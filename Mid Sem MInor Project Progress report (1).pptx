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ink/ink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497" r:id="rId3"/>
    <p:sldId id="499" r:id="rId4"/>
    <p:sldId id="500" r:id="rId5"/>
    <p:sldId id="501" r:id="rId6"/>
    <p:sldId id="512" r:id="rId7"/>
    <p:sldId id="513" r:id="rId8"/>
    <p:sldId id="505" r:id="rId9"/>
    <p:sldId id="503" r:id="rId10"/>
    <p:sldId id="507" r:id="rId11"/>
    <p:sldId id="514" r:id="rId12"/>
    <p:sldId id="504" r:id="rId13"/>
    <p:sldId id="502" r:id="rId14"/>
    <p:sldId id="506" r:id="rId15"/>
    <p:sldId id="269" r:id="rId16"/>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93" autoAdjust="0"/>
    <p:restoredTop sz="94681"/>
  </p:normalViewPr>
  <p:slideViewPr>
    <p:cSldViewPr>
      <p:cViewPr varScale="1">
        <p:scale>
          <a:sx n="84" d="100"/>
          <a:sy n="84" d="100"/>
        </p:scale>
        <p:origin x="845"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059980-3A4F-4E95-A123-705C533C892F}" type="doc">
      <dgm:prSet loTypeId="urn:microsoft.com/office/officeart/2005/8/layout/hProcess9" loCatId="process" qsTypeId="urn:microsoft.com/office/officeart/2005/8/quickstyle/3d5" qsCatId="3D" csTypeId="urn:microsoft.com/office/officeart/2005/8/colors/accent4_3" csCatId="accent4" phldr="1"/>
      <dgm:spPr/>
      <dgm:t>
        <a:bodyPr/>
        <a:lstStyle/>
        <a:p>
          <a:endParaRPr lang="en-IN"/>
        </a:p>
      </dgm:t>
    </dgm:pt>
    <dgm:pt modelId="{8B773B60-5041-46C1-BDDA-377A3069C8EB}">
      <dgm:prSet phldrT="[Text]" phldr="0"/>
      <dgm:spPr/>
      <dgm:t>
        <a:bodyPr/>
        <a:lstStyle/>
        <a:p>
          <a:r>
            <a:rPr lang="en-US" dirty="0"/>
            <a:t>Dataset is chosen</a:t>
          </a:r>
          <a:endParaRPr lang="en-IN" dirty="0"/>
        </a:p>
      </dgm:t>
    </dgm:pt>
    <dgm:pt modelId="{FAD574BC-F0D5-447A-8CD9-6B0AB9677861}" type="parTrans" cxnId="{1E22370A-1FBE-4FF6-A3F4-659432664E19}">
      <dgm:prSet/>
      <dgm:spPr/>
      <dgm:t>
        <a:bodyPr/>
        <a:lstStyle/>
        <a:p>
          <a:endParaRPr lang="en-IN"/>
        </a:p>
      </dgm:t>
    </dgm:pt>
    <dgm:pt modelId="{F1AA0AD7-026C-4153-8F8E-394DB96FB39D}" type="sibTrans" cxnId="{1E22370A-1FBE-4FF6-A3F4-659432664E19}">
      <dgm:prSet/>
      <dgm:spPr/>
      <dgm:t>
        <a:bodyPr/>
        <a:lstStyle/>
        <a:p>
          <a:endParaRPr lang="en-IN"/>
        </a:p>
      </dgm:t>
    </dgm:pt>
    <dgm:pt modelId="{6BEF22A8-37FF-4D77-9C92-D7FBADC0CB7A}">
      <dgm:prSet phldrT="[Text]" phldr="0"/>
      <dgm:spPr/>
      <dgm:t>
        <a:bodyPr/>
        <a:lstStyle/>
        <a:p>
          <a:r>
            <a:rPr lang="en-US" dirty="0"/>
            <a:t>Dataset </a:t>
          </a:r>
          <a:r>
            <a:rPr lang="en-US"/>
            <a:t>is cleaned</a:t>
          </a:r>
          <a:endParaRPr lang="en-IN" dirty="0"/>
        </a:p>
      </dgm:t>
    </dgm:pt>
    <dgm:pt modelId="{DC31D3F8-7652-43DE-B636-97108D76A8F2}" type="parTrans" cxnId="{3259892E-03DB-42C5-BD76-DA5FDEF2A744}">
      <dgm:prSet/>
      <dgm:spPr/>
      <dgm:t>
        <a:bodyPr/>
        <a:lstStyle/>
        <a:p>
          <a:endParaRPr lang="en-IN"/>
        </a:p>
      </dgm:t>
    </dgm:pt>
    <dgm:pt modelId="{C312BA86-6773-471D-8686-18CEC3BE1162}" type="sibTrans" cxnId="{3259892E-03DB-42C5-BD76-DA5FDEF2A744}">
      <dgm:prSet/>
      <dgm:spPr/>
      <dgm:t>
        <a:bodyPr/>
        <a:lstStyle/>
        <a:p>
          <a:endParaRPr lang="en-IN"/>
        </a:p>
      </dgm:t>
    </dgm:pt>
    <dgm:pt modelId="{0F2671D3-E2DB-48D9-ABEA-1AF9ADAB9270}">
      <dgm:prSet phldrT="[Text]" phldr="0"/>
      <dgm:spPr/>
      <dgm:t>
        <a:bodyPr/>
        <a:lstStyle/>
        <a:p>
          <a:r>
            <a:rPr lang="en-US"/>
            <a:t>Dataset is analyzed</a:t>
          </a:r>
          <a:endParaRPr lang="en-IN" dirty="0"/>
        </a:p>
      </dgm:t>
    </dgm:pt>
    <dgm:pt modelId="{DE881F76-0F48-47D8-B7DA-AC6BBC70A340}" type="parTrans" cxnId="{F6CC76F2-9710-4885-90F7-FBE08E1D9FF7}">
      <dgm:prSet/>
      <dgm:spPr/>
      <dgm:t>
        <a:bodyPr/>
        <a:lstStyle/>
        <a:p>
          <a:endParaRPr lang="en-IN"/>
        </a:p>
      </dgm:t>
    </dgm:pt>
    <dgm:pt modelId="{A24432E5-1375-48C1-8EF8-EEE2C1BC19F0}" type="sibTrans" cxnId="{F6CC76F2-9710-4885-90F7-FBE08E1D9FF7}">
      <dgm:prSet/>
      <dgm:spPr/>
      <dgm:t>
        <a:bodyPr/>
        <a:lstStyle/>
        <a:p>
          <a:endParaRPr lang="en-IN"/>
        </a:p>
      </dgm:t>
    </dgm:pt>
    <dgm:pt modelId="{21C5DC6B-AF25-47F4-8D70-E0E0B3B8AE2C}">
      <dgm:prSet phldrT="[Text]" phldr="0"/>
      <dgm:spPr/>
      <dgm:t>
        <a:bodyPr/>
        <a:lstStyle/>
        <a:p>
          <a:r>
            <a:rPr lang="en-US" dirty="0"/>
            <a:t>Exploratory data analysis</a:t>
          </a:r>
          <a:endParaRPr lang="en-IN" dirty="0"/>
        </a:p>
      </dgm:t>
    </dgm:pt>
    <dgm:pt modelId="{31FE1DC5-4D8C-4B0E-9009-7BBAB8881F84}" type="parTrans" cxnId="{CF823FA0-7152-418C-8164-D130B65324DF}">
      <dgm:prSet/>
      <dgm:spPr/>
      <dgm:t>
        <a:bodyPr/>
        <a:lstStyle/>
        <a:p>
          <a:endParaRPr lang="en-IN"/>
        </a:p>
      </dgm:t>
    </dgm:pt>
    <dgm:pt modelId="{CF500C70-E784-4402-AE8C-B60859E52A4A}" type="sibTrans" cxnId="{CF823FA0-7152-418C-8164-D130B65324DF}">
      <dgm:prSet/>
      <dgm:spPr/>
      <dgm:t>
        <a:bodyPr/>
        <a:lstStyle/>
        <a:p>
          <a:endParaRPr lang="en-IN"/>
        </a:p>
      </dgm:t>
    </dgm:pt>
    <dgm:pt modelId="{582AA2D7-1EC8-4693-A766-EDA014F58FE6}">
      <dgm:prSet phldrT="[Text]" phldr="0"/>
      <dgm:spPr/>
      <dgm:t>
        <a:bodyPr/>
        <a:lstStyle/>
        <a:p>
          <a:r>
            <a:rPr lang="en-US" dirty="0"/>
            <a:t>Conclusions are drawn regarding Dataset</a:t>
          </a:r>
          <a:endParaRPr lang="en-IN" dirty="0"/>
        </a:p>
      </dgm:t>
    </dgm:pt>
    <dgm:pt modelId="{F93A9758-C086-42C5-9C3E-6D35E2A1D6FF}" type="parTrans" cxnId="{C37BED40-C2EC-46E3-9907-5DE5770E111D}">
      <dgm:prSet/>
      <dgm:spPr/>
      <dgm:t>
        <a:bodyPr/>
        <a:lstStyle/>
        <a:p>
          <a:endParaRPr lang="en-IN"/>
        </a:p>
      </dgm:t>
    </dgm:pt>
    <dgm:pt modelId="{5175931D-08DC-48D7-B455-091939294053}" type="sibTrans" cxnId="{C37BED40-C2EC-46E3-9907-5DE5770E111D}">
      <dgm:prSet/>
      <dgm:spPr/>
      <dgm:t>
        <a:bodyPr/>
        <a:lstStyle/>
        <a:p>
          <a:endParaRPr lang="en-IN"/>
        </a:p>
      </dgm:t>
    </dgm:pt>
    <dgm:pt modelId="{F0518D0F-8364-4C41-9274-FFAE8F1BDE17}">
      <dgm:prSet phldrT="[Text]" phldr="0"/>
      <dgm:spPr/>
      <dgm:t>
        <a:bodyPr/>
        <a:lstStyle/>
        <a:p>
          <a:r>
            <a:rPr lang="en-US" dirty="0"/>
            <a:t>The dataset is visualized</a:t>
          </a:r>
          <a:endParaRPr lang="en-IN" dirty="0"/>
        </a:p>
      </dgm:t>
    </dgm:pt>
    <dgm:pt modelId="{5371E37B-2840-4946-89D8-49E844115E5E}" type="parTrans" cxnId="{52089CEF-BA0F-454F-AAF0-FCDAD5D11C12}">
      <dgm:prSet/>
      <dgm:spPr/>
      <dgm:t>
        <a:bodyPr/>
        <a:lstStyle/>
        <a:p>
          <a:endParaRPr lang="en-IN"/>
        </a:p>
      </dgm:t>
    </dgm:pt>
    <dgm:pt modelId="{B499426B-3951-4ED4-8BC2-8B77BACCF1EE}" type="sibTrans" cxnId="{52089CEF-BA0F-454F-AAF0-FCDAD5D11C12}">
      <dgm:prSet/>
      <dgm:spPr/>
      <dgm:t>
        <a:bodyPr/>
        <a:lstStyle/>
        <a:p>
          <a:endParaRPr lang="en-IN"/>
        </a:p>
      </dgm:t>
    </dgm:pt>
    <dgm:pt modelId="{8C1A8957-4097-4760-A1C0-C1BF06FABA47}" type="pres">
      <dgm:prSet presAssocID="{6D059980-3A4F-4E95-A123-705C533C892F}" presName="CompostProcess" presStyleCnt="0">
        <dgm:presLayoutVars>
          <dgm:dir/>
          <dgm:resizeHandles val="exact"/>
        </dgm:presLayoutVars>
      </dgm:prSet>
      <dgm:spPr/>
    </dgm:pt>
    <dgm:pt modelId="{1A95A34C-705D-480B-B1DF-55A42E8C2E12}" type="pres">
      <dgm:prSet presAssocID="{6D059980-3A4F-4E95-A123-705C533C892F}" presName="arrow" presStyleLbl="bgShp" presStyleIdx="0" presStyleCnt="1"/>
      <dgm:spPr/>
    </dgm:pt>
    <dgm:pt modelId="{CBDB875E-960E-4E2E-8A81-040AA520F8E2}" type="pres">
      <dgm:prSet presAssocID="{6D059980-3A4F-4E95-A123-705C533C892F}" presName="linearProcess" presStyleCnt="0"/>
      <dgm:spPr/>
    </dgm:pt>
    <dgm:pt modelId="{9BD2192A-BA0A-489D-BFB4-10DEEC14E7F9}" type="pres">
      <dgm:prSet presAssocID="{8B773B60-5041-46C1-BDDA-377A3069C8EB}" presName="textNode" presStyleLbl="node1" presStyleIdx="0" presStyleCnt="5">
        <dgm:presLayoutVars>
          <dgm:bulletEnabled val="1"/>
        </dgm:presLayoutVars>
      </dgm:prSet>
      <dgm:spPr/>
    </dgm:pt>
    <dgm:pt modelId="{44762FC5-E7C3-4EC3-B4AC-BDC3068E2717}" type="pres">
      <dgm:prSet presAssocID="{F1AA0AD7-026C-4153-8F8E-394DB96FB39D}" presName="sibTrans" presStyleCnt="0"/>
      <dgm:spPr/>
    </dgm:pt>
    <dgm:pt modelId="{8636856B-2D11-454F-B945-06028FDE231F}" type="pres">
      <dgm:prSet presAssocID="{6BEF22A8-37FF-4D77-9C92-D7FBADC0CB7A}" presName="textNode" presStyleLbl="node1" presStyleIdx="1" presStyleCnt="5">
        <dgm:presLayoutVars>
          <dgm:bulletEnabled val="1"/>
        </dgm:presLayoutVars>
      </dgm:prSet>
      <dgm:spPr/>
    </dgm:pt>
    <dgm:pt modelId="{52692A30-5318-4952-80C7-939369ACC3DE}" type="pres">
      <dgm:prSet presAssocID="{C312BA86-6773-471D-8686-18CEC3BE1162}" presName="sibTrans" presStyleCnt="0"/>
      <dgm:spPr/>
    </dgm:pt>
    <dgm:pt modelId="{4D4DABDC-63C4-4E8D-840C-A51570B7019F}" type="pres">
      <dgm:prSet presAssocID="{0F2671D3-E2DB-48D9-ABEA-1AF9ADAB9270}" presName="textNode" presStyleLbl="node1" presStyleIdx="2" presStyleCnt="5">
        <dgm:presLayoutVars>
          <dgm:bulletEnabled val="1"/>
        </dgm:presLayoutVars>
      </dgm:prSet>
      <dgm:spPr/>
    </dgm:pt>
    <dgm:pt modelId="{7D073A53-BB8D-4B13-8711-0FDD73BD0DCF}" type="pres">
      <dgm:prSet presAssocID="{A24432E5-1375-48C1-8EF8-EEE2C1BC19F0}" presName="sibTrans" presStyleCnt="0"/>
      <dgm:spPr/>
    </dgm:pt>
    <dgm:pt modelId="{4728EB8D-3F40-493D-BD19-551454FFE517}" type="pres">
      <dgm:prSet presAssocID="{F0518D0F-8364-4C41-9274-FFAE8F1BDE17}" presName="textNode" presStyleLbl="node1" presStyleIdx="3" presStyleCnt="5">
        <dgm:presLayoutVars>
          <dgm:bulletEnabled val="1"/>
        </dgm:presLayoutVars>
      </dgm:prSet>
      <dgm:spPr/>
    </dgm:pt>
    <dgm:pt modelId="{463C96E7-95D3-4E29-841A-C11431E62CBF}" type="pres">
      <dgm:prSet presAssocID="{B499426B-3951-4ED4-8BC2-8B77BACCF1EE}" presName="sibTrans" presStyleCnt="0"/>
      <dgm:spPr/>
    </dgm:pt>
    <dgm:pt modelId="{31CCD0B0-3543-40B2-8741-25613B003DA8}" type="pres">
      <dgm:prSet presAssocID="{582AA2D7-1EC8-4693-A766-EDA014F58FE6}" presName="textNode" presStyleLbl="node1" presStyleIdx="4" presStyleCnt="5">
        <dgm:presLayoutVars>
          <dgm:bulletEnabled val="1"/>
        </dgm:presLayoutVars>
      </dgm:prSet>
      <dgm:spPr/>
    </dgm:pt>
  </dgm:ptLst>
  <dgm:cxnLst>
    <dgm:cxn modelId="{1E22370A-1FBE-4FF6-A3F4-659432664E19}" srcId="{6D059980-3A4F-4E95-A123-705C533C892F}" destId="{8B773B60-5041-46C1-BDDA-377A3069C8EB}" srcOrd="0" destOrd="0" parTransId="{FAD574BC-F0D5-447A-8CD9-6B0AB9677861}" sibTransId="{F1AA0AD7-026C-4153-8F8E-394DB96FB39D}"/>
    <dgm:cxn modelId="{020DC81D-39DA-4E6C-AEBC-B44EB166DF19}" type="presOf" srcId="{582AA2D7-1EC8-4693-A766-EDA014F58FE6}" destId="{31CCD0B0-3543-40B2-8741-25613B003DA8}" srcOrd="0" destOrd="0" presId="urn:microsoft.com/office/officeart/2005/8/layout/hProcess9"/>
    <dgm:cxn modelId="{3259892E-03DB-42C5-BD76-DA5FDEF2A744}" srcId="{6D059980-3A4F-4E95-A123-705C533C892F}" destId="{6BEF22A8-37FF-4D77-9C92-D7FBADC0CB7A}" srcOrd="1" destOrd="0" parTransId="{DC31D3F8-7652-43DE-B636-97108D76A8F2}" sibTransId="{C312BA86-6773-471D-8686-18CEC3BE1162}"/>
    <dgm:cxn modelId="{2FE26836-32C0-48E9-8427-1770AD394B38}" type="presOf" srcId="{0F2671D3-E2DB-48D9-ABEA-1AF9ADAB9270}" destId="{4D4DABDC-63C4-4E8D-840C-A51570B7019F}" srcOrd="0" destOrd="0" presId="urn:microsoft.com/office/officeart/2005/8/layout/hProcess9"/>
    <dgm:cxn modelId="{C37BED40-C2EC-46E3-9907-5DE5770E111D}" srcId="{6D059980-3A4F-4E95-A123-705C533C892F}" destId="{582AA2D7-1EC8-4693-A766-EDA014F58FE6}" srcOrd="4" destOrd="0" parTransId="{F93A9758-C086-42C5-9C3E-6D35E2A1D6FF}" sibTransId="{5175931D-08DC-48D7-B455-091939294053}"/>
    <dgm:cxn modelId="{667F898A-FF08-4CD1-B6EA-E0D2ECC7F869}" type="presOf" srcId="{6D059980-3A4F-4E95-A123-705C533C892F}" destId="{8C1A8957-4097-4760-A1C0-C1BF06FABA47}" srcOrd="0" destOrd="0" presId="urn:microsoft.com/office/officeart/2005/8/layout/hProcess9"/>
    <dgm:cxn modelId="{CF823FA0-7152-418C-8164-D130B65324DF}" srcId="{0F2671D3-E2DB-48D9-ABEA-1AF9ADAB9270}" destId="{21C5DC6B-AF25-47F4-8D70-E0E0B3B8AE2C}" srcOrd="0" destOrd="0" parTransId="{31FE1DC5-4D8C-4B0E-9009-7BBAB8881F84}" sibTransId="{CF500C70-E784-4402-AE8C-B60859E52A4A}"/>
    <dgm:cxn modelId="{EEF4DEAA-7A7E-4B07-9467-3CECCE84F5E9}" type="presOf" srcId="{8B773B60-5041-46C1-BDDA-377A3069C8EB}" destId="{9BD2192A-BA0A-489D-BFB4-10DEEC14E7F9}" srcOrd="0" destOrd="0" presId="urn:microsoft.com/office/officeart/2005/8/layout/hProcess9"/>
    <dgm:cxn modelId="{00F6DFCA-E9E2-4BD7-88C0-616DAAE2AC6E}" type="presOf" srcId="{F0518D0F-8364-4C41-9274-FFAE8F1BDE17}" destId="{4728EB8D-3F40-493D-BD19-551454FFE517}" srcOrd="0" destOrd="0" presId="urn:microsoft.com/office/officeart/2005/8/layout/hProcess9"/>
    <dgm:cxn modelId="{C27734CD-5766-4C9B-97DD-805B4E6365E7}" type="presOf" srcId="{6BEF22A8-37FF-4D77-9C92-D7FBADC0CB7A}" destId="{8636856B-2D11-454F-B945-06028FDE231F}" srcOrd="0" destOrd="0" presId="urn:microsoft.com/office/officeart/2005/8/layout/hProcess9"/>
    <dgm:cxn modelId="{BA9452ED-F3E0-4AE0-A866-E56D21201619}" type="presOf" srcId="{21C5DC6B-AF25-47F4-8D70-E0E0B3B8AE2C}" destId="{4D4DABDC-63C4-4E8D-840C-A51570B7019F}" srcOrd="0" destOrd="1" presId="urn:microsoft.com/office/officeart/2005/8/layout/hProcess9"/>
    <dgm:cxn modelId="{52089CEF-BA0F-454F-AAF0-FCDAD5D11C12}" srcId="{6D059980-3A4F-4E95-A123-705C533C892F}" destId="{F0518D0F-8364-4C41-9274-FFAE8F1BDE17}" srcOrd="3" destOrd="0" parTransId="{5371E37B-2840-4946-89D8-49E844115E5E}" sibTransId="{B499426B-3951-4ED4-8BC2-8B77BACCF1EE}"/>
    <dgm:cxn modelId="{F6CC76F2-9710-4885-90F7-FBE08E1D9FF7}" srcId="{6D059980-3A4F-4E95-A123-705C533C892F}" destId="{0F2671D3-E2DB-48D9-ABEA-1AF9ADAB9270}" srcOrd="2" destOrd="0" parTransId="{DE881F76-0F48-47D8-B7DA-AC6BBC70A340}" sibTransId="{A24432E5-1375-48C1-8EF8-EEE2C1BC19F0}"/>
    <dgm:cxn modelId="{4E6060E6-6070-42DC-86EB-0DC70632F7D4}" type="presParOf" srcId="{8C1A8957-4097-4760-A1C0-C1BF06FABA47}" destId="{1A95A34C-705D-480B-B1DF-55A42E8C2E12}" srcOrd="0" destOrd="0" presId="urn:microsoft.com/office/officeart/2005/8/layout/hProcess9"/>
    <dgm:cxn modelId="{438237BF-313D-4710-B156-D777F609B176}" type="presParOf" srcId="{8C1A8957-4097-4760-A1C0-C1BF06FABA47}" destId="{CBDB875E-960E-4E2E-8A81-040AA520F8E2}" srcOrd="1" destOrd="0" presId="urn:microsoft.com/office/officeart/2005/8/layout/hProcess9"/>
    <dgm:cxn modelId="{6CF463B2-F999-46BA-862C-342C09162509}" type="presParOf" srcId="{CBDB875E-960E-4E2E-8A81-040AA520F8E2}" destId="{9BD2192A-BA0A-489D-BFB4-10DEEC14E7F9}" srcOrd="0" destOrd="0" presId="urn:microsoft.com/office/officeart/2005/8/layout/hProcess9"/>
    <dgm:cxn modelId="{846F4B96-992D-436D-B6C3-43F61C7A4D14}" type="presParOf" srcId="{CBDB875E-960E-4E2E-8A81-040AA520F8E2}" destId="{44762FC5-E7C3-4EC3-B4AC-BDC3068E2717}" srcOrd="1" destOrd="0" presId="urn:microsoft.com/office/officeart/2005/8/layout/hProcess9"/>
    <dgm:cxn modelId="{FD6F239B-6730-4A48-BF0A-85A7D2A01357}" type="presParOf" srcId="{CBDB875E-960E-4E2E-8A81-040AA520F8E2}" destId="{8636856B-2D11-454F-B945-06028FDE231F}" srcOrd="2" destOrd="0" presId="urn:microsoft.com/office/officeart/2005/8/layout/hProcess9"/>
    <dgm:cxn modelId="{62F3EC9D-DDB3-44C8-B780-4205BA909AF0}" type="presParOf" srcId="{CBDB875E-960E-4E2E-8A81-040AA520F8E2}" destId="{52692A30-5318-4952-80C7-939369ACC3DE}" srcOrd="3" destOrd="0" presId="urn:microsoft.com/office/officeart/2005/8/layout/hProcess9"/>
    <dgm:cxn modelId="{F3826EDF-9BA8-4847-8DDA-8CCAA9CEEBD3}" type="presParOf" srcId="{CBDB875E-960E-4E2E-8A81-040AA520F8E2}" destId="{4D4DABDC-63C4-4E8D-840C-A51570B7019F}" srcOrd="4" destOrd="0" presId="urn:microsoft.com/office/officeart/2005/8/layout/hProcess9"/>
    <dgm:cxn modelId="{0E75D6C8-A4DD-4F54-977A-3B6F93FCC5EE}" type="presParOf" srcId="{CBDB875E-960E-4E2E-8A81-040AA520F8E2}" destId="{7D073A53-BB8D-4B13-8711-0FDD73BD0DCF}" srcOrd="5" destOrd="0" presId="urn:microsoft.com/office/officeart/2005/8/layout/hProcess9"/>
    <dgm:cxn modelId="{1AF098F0-42E6-42EF-A808-049CBE6C21E2}" type="presParOf" srcId="{CBDB875E-960E-4E2E-8A81-040AA520F8E2}" destId="{4728EB8D-3F40-493D-BD19-551454FFE517}" srcOrd="6" destOrd="0" presId="urn:microsoft.com/office/officeart/2005/8/layout/hProcess9"/>
    <dgm:cxn modelId="{EAE2BC0E-8FA4-4784-8899-3C8A39A6F7DC}" type="presParOf" srcId="{CBDB875E-960E-4E2E-8A81-040AA520F8E2}" destId="{463C96E7-95D3-4E29-841A-C11431E62CBF}" srcOrd="7" destOrd="0" presId="urn:microsoft.com/office/officeart/2005/8/layout/hProcess9"/>
    <dgm:cxn modelId="{34262D08-58F3-4C16-A01D-6AA96429F1CD}" type="presParOf" srcId="{CBDB875E-960E-4E2E-8A81-040AA520F8E2}" destId="{31CCD0B0-3543-40B2-8741-25613B003DA8}" srcOrd="8" destOrd="0" presId="urn:microsoft.com/office/officeart/2005/8/layout/hProcess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95A34C-705D-480B-B1DF-55A42E8C2E12}">
      <dsp:nvSpPr>
        <dsp:cNvPr id="0" name=""/>
        <dsp:cNvSpPr/>
      </dsp:nvSpPr>
      <dsp:spPr>
        <a:xfrm>
          <a:off x="457199" y="0"/>
          <a:ext cx="5181600" cy="4064000"/>
        </a:xfrm>
        <a:prstGeom prst="rightArrow">
          <a:avLst/>
        </a:prstGeom>
        <a:solidFill>
          <a:schemeClr val="accent4">
            <a:tint val="40000"/>
            <a:hueOff val="0"/>
            <a:satOff val="0"/>
            <a:lumOff val="0"/>
            <a:alphaOff val="0"/>
          </a:schemeClr>
        </a:solidFill>
        <a:ln>
          <a:noFill/>
        </a:ln>
        <a:effectLst/>
        <a:sp3d z="-400500" extrusionH="63500" contourW="12700" prstMaterial="matte">
          <a:contourClr>
            <a:schemeClr val="lt1">
              <a:tint val="50000"/>
            </a:schemeClr>
          </a:contourClr>
        </a:sp3d>
      </dsp:spPr>
      <dsp:style>
        <a:lnRef idx="0">
          <a:scrgbClr r="0" g="0" b="0"/>
        </a:lnRef>
        <a:fillRef idx="1">
          <a:scrgbClr r="0" g="0" b="0"/>
        </a:fillRef>
        <a:effectRef idx="0">
          <a:scrgbClr r="0" g="0" b="0"/>
        </a:effectRef>
        <a:fontRef idx="minor"/>
      </dsp:style>
    </dsp:sp>
    <dsp:sp modelId="{9BD2192A-BA0A-489D-BFB4-10DEEC14E7F9}">
      <dsp:nvSpPr>
        <dsp:cNvPr id="0" name=""/>
        <dsp:cNvSpPr/>
      </dsp:nvSpPr>
      <dsp:spPr>
        <a:xfrm>
          <a:off x="2678" y="1219199"/>
          <a:ext cx="1171277" cy="1625600"/>
        </a:xfrm>
        <a:prstGeom prst="roundRect">
          <a:avLst/>
        </a:prstGeom>
        <a:solidFill>
          <a:schemeClr val="accent4">
            <a:shade val="80000"/>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Dataset is chosen</a:t>
          </a:r>
          <a:endParaRPr lang="en-IN" sz="1500" kern="1200" dirty="0"/>
        </a:p>
      </dsp:txBody>
      <dsp:txXfrm>
        <a:off x="59855" y="1276376"/>
        <a:ext cx="1056923" cy="1511246"/>
      </dsp:txXfrm>
    </dsp:sp>
    <dsp:sp modelId="{8636856B-2D11-454F-B945-06028FDE231F}">
      <dsp:nvSpPr>
        <dsp:cNvPr id="0" name=""/>
        <dsp:cNvSpPr/>
      </dsp:nvSpPr>
      <dsp:spPr>
        <a:xfrm>
          <a:off x="1232520" y="1219199"/>
          <a:ext cx="1171277" cy="1625600"/>
        </a:xfrm>
        <a:prstGeom prst="roundRect">
          <a:avLst/>
        </a:prstGeom>
        <a:solidFill>
          <a:schemeClr val="accent4">
            <a:shade val="80000"/>
            <a:hueOff val="-44139"/>
            <a:satOff val="-1091"/>
            <a:lumOff val="6247"/>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Dataset </a:t>
          </a:r>
          <a:r>
            <a:rPr lang="en-US" sz="1500" kern="1200"/>
            <a:t>is cleaned</a:t>
          </a:r>
          <a:endParaRPr lang="en-IN" sz="1500" kern="1200" dirty="0"/>
        </a:p>
      </dsp:txBody>
      <dsp:txXfrm>
        <a:off x="1289697" y="1276376"/>
        <a:ext cx="1056923" cy="1511246"/>
      </dsp:txXfrm>
    </dsp:sp>
    <dsp:sp modelId="{4D4DABDC-63C4-4E8D-840C-A51570B7019F}">
      <dsp:nvSpPr>
        <dsp:cNvPr id="0" name=""/>
        <dsp:cNvSpPr/>
      </dsp:nvSpPr>
      <dsp:spPr>
        <a:xfrm>
          <a:off x="2462361" y="1219199"/>
          <a:ext cx="1171277" cy="1625600"/>
        </a:xfrm>
        <a:prstGeom prst="roundRect">
          <a:avLst/>
        </a:prstGeom>
        <a:solidFill>
          <a:schemeClr val="accent4">
            <a:shade val="80000"/>
            <a:hueOff val="-88279"/>
            <a:satOff val="-2183"/>
            <a:lumOff val="12494"/>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a:t>Dataset is analyzed</a:t>
          </a:r>
          <a:endParaRPr lang="en-IN" sz="1500" kern="1200" dirty="0"/>
        </a:p>
        <a:p>
          <a:pPr marL="114300" lvl="1" indent="-114300" algn="l" defTabSz="533400">
            <a:lnSpc>
              <a:spcPct val="90000"/>
            </a:lnSpc>
            <a:spcBef>
              <a:spcPct val="0"/>
            </a:spcBef>
            <a:spcAft>
              <a:spcPct val="15000"/>
            </a:spcAft>
            <a:buChar char="•"/>
          </a:pPr>
          <a:r>
            <a:rPr lang="en-US" sz="1200" kern="1200" dirty="0"/>
            <a:t>Exploratory data analysis</a:t>
          </a:r>
          <a:endParaRPr lang="en-IN" sz="1200" kern="1200" dirty="0"/>
        </a:p>
      </dsp:txBody>
      <dsp:txXfrm>
        <a:off x="2519538" y="1276376"/>
        <a:ext cx="1056923" cy="1511246"/>
      </dsp:txXfrm>
    </dsp:sp>
    <dsp:sp modelId="{4728EB8D-3F40-493D-BD19-551454FFE517}">
      <dsp:nvSpPr>
        <dsp:cNvPr id="0" name=""/>
        <dsp:cNvSpPr/>
      </dsp:nvSpPr>
      <dsp:spPr>
        <a:xfrm>
          <a:off x="3692202" y="1219199"/>
          <a:ext cx="1171277" cy="1625600"/>
        </a:xfrm>
        <a:prstGeom prst="roundRect">
          <a:avLst/>
        </a:prstGeom>
        <a:solidFill>
          <a:schemeClr val="accent4">
            <a:shade val="80000"/>
            <a:hueOff val="-132418"/>
            <a:satOff val="-3274"/>
            <a:lumOff val="18741"/>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The dataset is visualized</a:t>
          </a:r>
          <a:endParaRPr lang="en-IN" sz="1500" kern="1200" dirty="0"/>
        </a:p>
      </dsp:txBody>
      <dsp:txXfrm>
        <a:off x="3749379" y="1276376"/>
        <a:ext cx="1056923" cy="1511246"/>
      </dsp:txXfrm>
    </dsp:sp>
    <dsp:sp modelId="{31CCD0B0-3543-40B2-8741-25613B003DA8}">
      <dsp:nvSpPr>
        <dsp:cNvPr id="0" name=""/>
        <dsp:cNvSpPr/>
      </dsp:nvSpPr>
      <dsp:spPr>
        <a:xfrm>
          <a:off x="4922043" y="1219199"/>
          <a:ext cx="1171277" cy="1625600"/>
        </a:xfrm>
        <a:prstGeom prst="roundRect">
          <a:avLst/>
        </a:prstGeom>
        <a:solidFill>
          <a:schemeClr val="accent4">
            <a:shade val="80000"/>
            <a:hueOff val="-176558"/>
            <a:satOff val="-4365"/>
            <a:lumOff val="24988"/>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Conclusions are drawn regarding Dataset</a:t>
          </a:r>
          <a:endParaRPr lang="en-IN" sz="1500" kern="1200" dirty="0"/>
        </a:p>
      </dsp:txBody>
      <dsp:txXfrm>
        <a:off x="4979220" y="1276376"/>
        <a:ext cx="1056923" cy="151124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49:54.477"/>
    </inkml:context>
    <inkml:brush xml:id="br0">
      <inkml:brushProperty name="width" value="0.35" units="cm"/>
      <inkml:brushProperty name="height" value="0.35" units="cm"/>
      <inkml:brushProperty name="color" value="#FFFFFF"/>
    </inkml:brush>
  </inkml:definitions>
  <inkml:trace contextRef="#ctx0" brushRef="#br0">299 638 24575,'1'-13'0,"2"1"0,-1-1 0,2 1 0,0-1 0,0 1 0,1 0 0,0 0 0,1 1 0,12-18 0,-7 10 0,15-34 0,-25 51 0,-1 0 0,1 0 0,-1 1 0,1-1 0,-1 0 0,1 0 0,-1 0 0,0 0 0,0 0 0,0 0 0,-1-3 0,1 4 0,0 1 0,0-1 0,0 1 0,-1-1 0,1 1 0,0-1 0,-1 0 0,1 1 0,0-1 0,-1 1 0,1 0 0,-1-1 0,1 1 0,0-1 0,-1 1 0,0 0 0,1-1 0,-1 1 0,1 0 0,-1-1 0,1 1 0,-1 0 0,-1-1 0,0 1 0,-1 0 0,0 0 0,1 0 0,-1 1 0,0-1 0,1 1 0,-1-1 0,0 1 0,1 0 0,-1 0 0,1 0 0,-1 0 0,1 0 0,-4 3 0,-22 16 0,-46 41 0,-9 7 0,-17 16 0,87-77 0,6-10 0,7 1 0,-1 1 0,1 0 0,0 0 0,0 0 0,0-1 0,0 1 0,0 0 0,1 0 0,-1 0 0,0 0 0,0-1 0,1 1 0,-1 0 0,1 0 0,-1 0 0,1 0 0,-1 0 0,1 0 0,1-1 0,17-28 0,0 0 0,-2-1 0,-2-1 0,14-39 0,-27 67 0,-1-1 0,0 1 0,0-1 0,0 1 0,0-1 0,-1 0 0,0 1 0,0-9 0,0 11 0,-1 0 0,1 0 0,-1 1 0,0-1 0,0 0 0,1 1 0,-1-1 0,0 0 0,0 1 0,-1-1 0,1 1 0,0 0 0,0-1 0,-1 1 0,1 0 0,-1 0 0,1 0 0,-1 0 0,1 0 0,-1 0 0,0 0 0,1 0 0,-1 1 0,-2-2 0,1 2 0,0-1 0,1-1 0,-1 1 0,1 0 0,-1-1 0,1 1 0,0-1 0,0 0 0,0 0 0,0 0 0,0 0 0,0 0 0,0 0 0,1 0 0,-1-1 0,1 1 0,-3-5 0,2 3 0,0 0 0,0 0 0,-1 1 0,1 0 0,-1-1 0,-5-4 0,-15-3 0,21 11 0,1 0 0,0-1 0,0 1 0,0 0 0,-1-1 0,1 1 0,0-1 0,0 1 0,0-1 0,0 1 0,0-1 0,0 0 0,0 1 0,0-1 0,0 0 0,0 0 0,0 0 0,1 0 0,-1 0 0,0 0 0,0 0 0,1 0 0,-1 0 0,1 0 0,-1 0 0,1 0 0,0-1 0,-1 1 0,1 0 0,0 0 0,0 0 0,0-3 0,-1 0 0,0 1 0,1-1 0,0 0 0,0 0 0,0 0 0,1 1 0,-1-1 0,1 0 0,0 0 0,0 1 0,0-1 0,0 1 0,1-1 0,-1 1 0,1-1 0,0 1 0,0 0 0,0 0 0,1 0 0,-1 0 0,1 0 0,0 0 0,-1 1 0,1-1 0,0 1 0,0 0 0,1 0 0,-1 0 0,0 0 0,1 1 0,-1-1 0,1 1 0,0 0 0,-1 0 0,1 0 0,0 1 0,0-1 0,-1 1 0,1 0 0,0 0 0,0 0 0,0 0 0,-1 1 0,8 1 0,4 4 0,0 0 0,0 1 0,-1 0 0,25 17 0,13 7 0,-36-22 0,0-2 0,0 0 0,1-1 0,0-1 0,0-1 0,27 4 0,-39-7 0,0 0 0,0-1 0,0 0 0,-1 0 0,1 0 0,0-1 0,0 0 0,0 0 0,-1 0 0,1 0 0,0-1 0,-1 1 0,1-1 0,-1 0 0,0-1 0,1 1 0,-1-1 0,0 0 0,-1 0 0,1 0 0,0 0 0,-1-1 0,0 0 0,0 1 0,0-1 0,0 0 0,-1-1 0,4-5 0,2-15 0,-5 15 0,1 0 0,-1 0 0,2 0 0,7-13 0,-11 22 0,-1 0 0,1-1 0,0 1 0,0 0 0,0 0 0,-1 0 0,1 0 0,1 0 0,-1 0 0,0 0 0,0 1 0,0-1 0,0 0 0,0 1 0,1-1 0,-1 0 0,0 1 0,1 0 0,-1-1 0,0 1 0,1 0 0,-1-1 0,0 1 0,1 0 0,-1 0 0,1 0 0,-1 0 0,0 1 0,1-1 0,-1 0 0,1 1 0,-1-1 0,0 0 0,0 1 0,1 0 0,-1-1 0,0 1 0,0 0 0,2 1 0,2 3 0,-1-1 0,-1 1 0,1 0 0,-1 1 0,0-1 0,0 0 0,0 1 0,-1 0 0,1-1 0,-2 1 0,1 0 0,1 7 0,10 26 0,-9-31 0,1 0 0,0 0 0,0-1 0,1 0 0,0 0 0,1 0 0,-1 0 0,1-1 0,1-1 0,-1 1 0,1-1 0,12 7 0,-7-6 0,-1 0 0,1-1 0,0 0 0,0-1 0,0-1 0,1 0 0,24 2 0,-34-5 0,0 0 0,0 0 0,0-1 0,0 0 0,0 0 0,-1 0 0,1 0 0,0 0 0,0-1 0,-1 0 0,1 0 0,-1 0 0,5-3 0,43-41 0,-9 8 0,9 4 0,2 3 0,1 2 0,66-25 0,-98 46 0,1 2 0,0 1 0,0 0 0,0 2 0,43-1 0,26-3 0,-55 3 0,37 2 0,11-1 0,-73 0 0,-15-2 0,-21-2 0,-2 3 0,0 2 0,-1 1 0,1 1 0,0 1 0,0 1 0,0 2 0,0 0 0,1 2 0,-1 0 0,1 2 0,-41 19 0,61-24 0,-1 0 0,1-1 0,-1 1 0,0-1 0,0 0 0,0-1 0,-1 0 0,1 0 0,0 0 0,0-1 0,0 1 0,-1-2 0,1 1 0,0-1 0,0 0 0,-1 0 0,1 0 0,0-1 0,0 0 0,0 0 0,1-1 0,-1 1 0,1-1 0,-1-1 0,1 1 0,0-1 0,-7-6 0,5 4 0,0 0 0,-1 0 0,0 0 0,0 1 0,0 0 0,-1 1 0,0 0 0,1 0 0,-2 1 0,1 0 0,0 0 0,-1 1 0,1 0 0,-1 1 0,1 0 0,-16 1 0,2 1 0,1 0 0,0 2 0,0 0 0,0 1 0,-35 13 0,32-9 0,17-6 0,-1 0 0,0 1 0,1 0 0,0 1 0,0-1 0,0 2 0,0-1 0,0 1 0,1 0 0,0 1 0,0 0 0,-9 10 0,-2 9 0,1 1 0,1 0 0,1 2 0,-21 53 0,-129 245 0,132-268 0,-71 116 0,88-149 0,15-23 0,-1-1 0,1 1 0,0 0 0,0 0 0,0 0 0,0 0 0,1 0 0,-1 1 0,0-1 0,1 0 0,-1 0 0,1 0 0,0 1 0,0-1 0,0 0 0,0 3 0,1-4 0,-1-1 0,0 1 0,0 0 0,1-1 0,-1 1 0,0-1 0,1 1 0,-1-1 0,0 0 0,1 1 0,-1-1 0,1 1 0,-1-1 0,1 0 0,-1 1 0,1-1 0,-1 0 0,1 1 0,0-1 0,-1 0 0,2 1 0,21-3 0,-11-2 0,0-1 0,0 0 0,-1-1 0,0 0 0,0 0 0,0-1 0,18-17 0,61-66 0,-65 58 0,-2 0 0,-1-2 0,23-46 0,10-16 0,-16 26 0,-26 45 0,1 1 0,27-37 0,-39 58 0,1 0 0,-1 1 0,0-1 0,1 1 0,-1 0 0,1-1 0,0 1 0,0 1 0,0-1 0,0 0 0,0 1 0,0-1 0,0 1 0,1 0 0,-1 0 0,0 1 0,1-1 0,-1 0 0,0 1 0,1 0 0,-1 0 0,1 0 0,-1 0 0,0 1 0,1-1 0,-1 1 0,1 0 0,-1 0 0,0 0 0,0 0 0,0 1 0,0-1 0,0 1 0,0 0 0,0 0 0,0 0 0,0 0 0,-1 0 0,1 1 0,-1-1 0,0 1 0,0 0 0,0-1 0,0 1 0,0 0 0,-1 0 0,1 0 0,-1 1 0,0-1 0,1 0 0,0 7 0,1 35 0,-1 1 0,-8 77 0,5-120 0,0 10 0,-1 1 0,-1-1 0,0 0 0,-1 0 0,0-1 0,-1 1 0,0-1 0,-1 0 0,0 0 0,-1-1 0,-12 15 0,13-17 0,1-1 0,0 0 0,1 1 0,0 0 0,0 0 0,1 1 0,0-1 0,1 1 0,0-1 0,-2 18 0,4-27 0,0 0 0,0 0 0,0 0 0,0 1 0,0-1 0,0 0 0,0 0 0,0 0 0,0 0 0,0 0 0,0 0 0,0 0 0,0 1 0,0-1 0,0 0 0,0 0 0,0 0 0,0 0 0,0 0 0,0 0 0,0 0 0,0 0 0,0 1 0,0-1 0,0 0 0,0 0 0,0 0 0,0 0 0,0 0 0,0 0 0,0 0 0,1 0 0,-1 0 0,0 1 0,0-1 0,0 0 0,0 0 0,0 0 0,0 0 0,0 0 0,0 0 0,0 0 0,1 0 0,-1 0 0,0 0 0,0 0 0,0 0 0,0 0 0,0 0 0,0 0 0,0 0 0,1 0 0,-1 0 0,0 0 0,0 0 0,0 0 0,0 0 0,0 0 0,0 0 0,0 0 0,0 0 0,1 0 0,-1 0 0,7-9 0,7-14 0,41-109 0,31-60 0,-60 137 0,10-19 0,-31 66 0,-1 1 0,1 0 0,0 0 0,1 0 0,0 1 0,12-11 0,-18 16 0,1 0 0,0 0 0,0 1 0,-1-1 0,1 1 0,0-1 0,0 1 0,0-1 0,0 1 0,0-1 0,0 1 0,0 0 0,0 0 0,0-1 0,0 1 0,0 0 0,0 0 0,0 0 0,0 0 0,0 0 0,0 0 0,0 0 0,0 1 0,0-1 0,0 0 0,0 1 0,0-1 0,0 0 0,0 1 0,1 0 0,0 1 0,0 0 0,0 0 0,0 1 0,-1-1 0,1 0 0,-1 1 0,1-1 0,-1 1 0,0-1 0,0 1 0,1 3 0,2 9 0,0 0 0,2 31 0,-3 36 0,-15 161 0,1-81 0,14-131 0,1-27 0,1-19 0,4-49 0,-6 43 0,0-1 0,1 0 0,1 1 0,0 0 0,2 0 0,1 1 0,11-23 0,-3 18 0,1 0 0,39-44 0,-46 56 0,-6 9 0,-1-1 0,1 1 0,0-1 0,0 1 0,0 0 0,6-4 0,-9 8 0,0-1 0,0 1 0,0 0 0,0-1 0,0 1 0,0 0 0,0 0 0,0-1 0,0 1 0,0 0 0,0 0 0,0 0 0,0 0 0,0 1 0,0-1 0,0 0 0,0 0 0,0 1 0,0-1 0,0 0 0,0 1 0,0-1 0,0 1 0,0-1 0,0 1 0,-1-1 0,1 1 0,0 0 0,0 0 0,-1-1 0,1 1 0,0 0 0,-1 0 0,1 0 0,-1 0 0,1-1 0,-1 1 0,1 0 0,-1 0 0,0 0 0,1 2 0,6 19 0,0-1 0,-2 2 0,0-1 0,-1 0 0,0 43 0,-3 54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54:58.644"/>
    </inkml:context>
    <inkml:brush xml:id="br0">
      <inkml:brushProperty name="width" value="0.35" units="cm"/>
      <inkml:brushProperty name="height" value="0.35" units="cm"/>
      <inkml:brushProperty name="color" value="#FFFFFF"/>
    </inkml:brush>
  </inkml:definitions>
  <inkml:trace contextRef="#ctx0" brushRef="#br0">1 0 24575,'50'2'0,"58"11"0,47 1 0,-132-12 0,0 0 0,31 8 0,-30-5 0,48 4 0,-32-6 0,41 8 0,-43-5 0,57 2 0,-85-7 0,1-1 0,-1-1 0,1 0 0,-1 0 0,1-1 0,-1 0 0,0-1 0,0 0 0,0-1 0,17-8 0,-13 5 0,-1 2 0,1 0 0,1 0 0,-1 1 0,1 1 0,-1 1 0,1 0 0,0 1 0,0 0 0,26 3 0,-13 1 0,0 1 0,-1 1 0,1 2 0,45 17 0,-40-14 291,-25-8-622,0 1 0,0-1-1,0 2 1,10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54:58.644"/>
    </inkml:context>
    <inkml:brush xml:id="br0">
      <inkml:brushProperty name="width" value="0.35" units="cm"/>
      <inkml:brushProperty name="height" value="0.35" units="cm"/>
      <inkml:brushProperty name="color" value="#FFFFFF"/>
    </inkml:brush>
  </inkml:definitions>
  <inkml:trace contextRef="#ctx0" brushRef="#br0">1 0 24575,'50'2'0,"58"11"0,47 1 0,-132-12 0,0 0 0,31 8 0,-30-5 0,48 4 0,-32-6 0,41 8 0,-43-5 0,57 2 0,-85-7 0,1-1 0,-1-1 0,1 0 0,-1 0 0,1-1 0,-1 0 0,0-1 0,0 0 0,0-1 0,17-8 0,-13 5 0,-1 2 0,1 0 0,1 0 0,-1 1 0,1 1 0,-1 1 0,1 0 0,0 1 0,0 0 0,26 3 0,-13 1 0,0 1 0,-1 1 0,1 2 0,45 17 0,-40-14 291,-25-8-622,0 1 0,0-1-1,0 2 1,10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06-04-2026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BE92-2836-2377-AC03-A2DE9BD92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9794-528F-622F-43DD-4480761AC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C919C-92B7-D9DB-548B-F07A4AA3A29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3746616-91E6-EEB7-1856-D004D3BB5C8A}"/>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996527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E8AE-6B96-A0B7-5B01-1E66F7091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B1102-F4C9-B3F6-1EBC-67E21A0E1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09EEB-322A-5BF0-4BAB-89D92C041C1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0D25FF-334B-A586-E002-BDB8BEB75D2B}"/>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4163471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3277129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3C315-2F31-0964-567A-7316CBA1CF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FF20B-31C2-4485-B341-8D4BE37D5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42BF9-76F7-7E12-CA6C-411D0EA633F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3E48A72-B066-3B79-5AF6-739496354C8B}"/>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457875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41836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06-04-2026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image" Target="../media/image2.png"/><Relationship Id="rId7" Type="http://schemas.openxmlformats.org/officeDocument/2006/relationships/image" Target="../media/image60.png"/><Relationship Id="rId12"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11" Type="http://schemas.openxmlformats.org/officeDocument/2006/relationships/diagramColors" Target="../diagrams/colors1.xml"/><Relationship Id="rId5" Type="http://schemas.openxmlformats.org/officeDocument/2006/relationships/customXml" Target="../ink/ink1.xml"/><Relationship Id="rId10" Type="http://schemas.openxmlformats.org/officeDocument/2006/relationships/diagramQuickStyle" Target="../diagrams/quickStyle1.xml"/><Relationship Id="rId4" Type="http://schemas.openxmlformats.org/officeDocument/2006/relationships/image" Target="../media/image4.png"/><Relationship Id="rId9"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hyperlink" Target="https://projexa.ai/student/e-resources" TargetMode="External"/><Relationship Id="rId3" Type="http://schemas.openxmlformats.org/officeDocument/2006/relationships/image" Target="../media/image2.png"/><Relationship Id="rId7" Type="http://schemas.openxmlformats.org/officeDocument/2006/relationships/hyperlink" Target="https://numpy.org/doc/"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pandas.pydata.org/docs/" TargetMode="External"/><Relationship Id="rId5" Type="http://schemas.openxmlformats.org/officeDocument/2006/relationships/hyperlink" Target="https://ndap.niti.gov.in/"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65174" y="2204864"/>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22061" y="2367609"/>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Pre-Final Year Project Progress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1002920162"/>
              </p:ext>
            </p:extLst>
          </p:nvPr>
        </p:nvGraphicFramePr>
        <p:xfrm>
          <a:off x="1667031" y="3272090"/>
          <a:ext cx="6096000" cy="21945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37270469"/>
                    </a:ext>
                  </a:extLst>
                </a:gridCol>
                <a:gridCol w="3048000">
                  <a:extLst>
                    <a:ext uri="{9D8B030D-6E8A-4147-A177-3AD203B41FA5}">
                      <a16:colId xmlns:a16="http://schemas.microsoft.com/office/drawing/2014/main" val="3305024946"/>
                    </a:ext>
                  </a:extLst>
                </a:gridCol>
              </a:tblGrid>
              <a:tr h="365760">
                <a:tc>
                  <a:txBody>
                    <a:bodyPr/>
                    <a:lstStyle/>
                    <a:p>
                      <a:pPr algn="ctr"/>
                      <a:r>
                        <a:rPr lang="en-US" dirty="0"/>
                        <a:t>ROLL NO</a:t>
                      </a:r>
                    </a:p>
                  </a:txBody>
                  <a:tcPr anchor="ctr"/>
                </a:tc>
                <a:tc>
                  <a:txBody>
                    <a:bodyPr/>
                    <a:lstStyle/>
                    <a:p>
                      <a:pPr algn="ctr"/>
                      <a:r>
                        <a:rPr lang="en-US" dirty="0"/>
                        <a:t>NAME</a:t>
                      </a:r>
                    </a:p>
                  </a:txBody>
                  <a:tcPr/>
                </a:tc>
                <a:extLst>
                  <a:ext uri="{0D108BD9-81ED-4DB2-BD59-A6C34878D82A}">
                    <a16:rowId xmlns:a16="http://schemas.microsoft.com/office/drawing/2014/main" val="1765898331"/>
                  </a:ext>
                </a:extLst>
              </a:tr>
              <a:tr h="365760">
                <a:tc>
                  <a:txBody>
                    <a:bodyPr/>
                    <a:lstStyle/>
                    <a:p>
                      <a:pPr algn="ctr"/>
                      <a:r>
                        <a:rPr lang="en-US" dirty="0"/>
                        <a:t>2501060043</a:t>
                      </a:r>
                    </a:p>
                  </a:txBody>
                  <a:tcPr anchor="ctr"/>
                </a:tc>
                <a:tc>
                  <a:txBody>
                    <a:bodyPr/>
                    <a:lstStyle/>
                    <a:p>
                      <a:pPr algn="ctr"/>
                      <a:r>
                        <a:rPr lang="en-US" dirty="0"/>
                        <a:t>Raghav Gupta</a:t>
                      </a:r>
                    </a:p>
                  </a:txBody>
                  <a:tcPr anchor="ctr"/>
                </a:tc>
                <a:extLst>
                  <a:ext uri="{0D108BD9-81ED-4DB2-BD59-A6C34878D82A}">
                    <a16:rowId xmlns:a16="http://schemas.microsoft.com/office/drawing/2014/main" val="4176101868"/>
                  </a:ext>
                </a:extLst>
              </a:tr>
              <a:tr h="365760">
                <a:tc>
                  <a:txBody>
                    <a:bodyPr/>
                    <a:lstStyle/>
                    <a:p>
                      <a:pPr algn="ctr"/>
                      <a:r>
                        <a:rPr lang="en-US" dirty="0"/>
                        <a:t>2501060061</a:t>
                      </a:r>
                    </a:p>
                  </a:txBody>
                  <a:tcPr anchor="ctr"/>
                </a:tc>
                <a:tc>
                  <a:txBody>
                    <a:bodyPr/>
                    <a:lstStyle/>
                    <a:p>
                      <a:pPr algn="ctr"/>
                      <a:r>
                        <a:rPr lang="en-US" dirty="0"/>
                        <a:t>Prakriti Yadav</a:t>
                      </a:r>
                    </a:p>
                  </a:txBody>
                  <a:tcPr anchor="ctr"/>
                </a:tc>
                <a:extLst>
                  <a:ext uri="{0D108BD9-81ED-4DB2-BD59-A6C34878D82A}">
                    <a16:rowId xmlns:a16="http://schemas.microsoft.com/office/drawing/2014/main" val="1958206324"/>
                  </a:ext>
                </a:extLst>
              </a:tr>
              <a:tr h="365760">
                <a:tc>
                  <a:txBody>
                    <a:bodyPr/>
                    <a:lstStyle/>
                    <a:p>
                      <a:pPr algn="ctr"/>
                      <a:r>
                        <a:rPr lang="en-US" dirty="0"/>
                        <a:t>2501060066</a:t>
                      </a:r>
                    </a:p>
                  </a:txBody>
                  <a:tcPr anchor="ctr"/>
                </a:tc>
                <a:tc>
                  <a:txBody>
                    <a:bodyPr/>
                    <a:lstStyle/>
                    <a:p>
                      <a:pPr algn="ctr"/>
                      <a:r>
                        <a:rPr lang="en-US" dirty="0"/>
                        <a:t>Dev Sehgal</a:t>
                      </a:r>
                    </a:p>
                  </a:txBody>
                  <a:tcPr anchor="ctr"/>
                </a:tc>
                <a:extLst>
                  <a:ext uri="{0D108BD9-81ED-4DB2-BD59-A6C34878D82A}">
                    <a16:rowId xmlns:a16="http://schemas.microsoft.com/office/drawing/2014/main" val="1738317194"/>
                  </a:ext>
                </a:extLst>
              </a:tr>
              <a:tr h="365760">
                <a:tc>
                  <a:txBody>
                    <a:bodyPr/>
                    <a:lstStyle/>
                    <a:p>
                      <a:pPr algn="ctr"/>
                      <a:r>
                        <a:rPr lang="en-US" dirty="0"/>
                        <a:t>2501060071</a:t>
                      </a:r>
                    </a:p>
                  </a:txBody>
                  <a:tcPr anchor="ctr"/>
                </a:tc>
                <a:tc>
                  <a:txBody>
                    <a:bodyPr/>
                    <a:lstStyle/>
                    <a:p>
                      <a:pPr algn="ctr"/>
                      <a:r>
                        <a:rPr lang="en-US" dirty="0"/>
                        <a:t>Kanishk Grover</a:t>
                      </a:r>
                    </a:p>
                  </a:txBody>
                  <a:tcPr anchor="ctr"/>
                </a:tc>
                <a:extLst>
                  <a:ext uri="{0D108BD9-81ED-4DB2-BD59-A6C34878D82A}">
                    <a16:rowId xmlns:a16="http://schemas.microsoft.com/office/drawing/2014/main" val="452451731"/>
                  </a:ext>
                </a:extLst>
              </a:tr>
              <a:tr h="365760">
                <a:tc>
                  <a:txBody>
                    <a:bodyPr/>
                    <a:lstStyle/>
                    <a:p>
                      <a:pPr algn="ctr"/>
                      <a:r>
                        <a:rPr lang="en-US" dirty="0"/>
                        <a:t>2501060152</a:t>
                      </a:r>
                    </a:p>
                  </a:txBody>
                  <a:tcPr anchor="ctr"/>
                </a:tc>
                <a:tc>
                  <a:txBody>
                    <a:bodyPr/>
                    <a:lstStyle/>
                    <a:p>
                      <a:pPr algn="ctr"/>
                      <a:r>
                        <a:rPr lang="en-US" dirty="0"/>
                        <a:t>Aarohi Kalsi</a:t>
                      </a:r>
                    </a:p>
                  </a:txBody>
                  <a:tcPr anchor="ctr"/>
                </a:tc>
                <a:extLst>
                  <a:ext uri="{0D108BD9-81ED-4DB2-BD59-A6C34878D82A}">
                    <a16:rowId xmlns:a16="http://schemas.microsoft.com/office/drawing/2014/main" val="4083890461"/>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1414310" y="1372508"/>
            <a:ext cx="6608273" cy="707886"/>
          </a:xfrm>
          <a:prstGeom prst="rect">
            <a:avLst/>
          </a:prstGeom>
          <a:noFill/>
        </p:spPr>
        <p:txBody>
          <a:bodyPr wrap="square">
            <a:spAutoFit/>
          </a:bodyPr>
          <a:lstStyle/>
          <a:p>
            <a:pPr lvl="0" algn="ctr">
              <a:buSzPct val="25000"/>
            </a:pPr>
            <a:r>
              <a:rPr lang="en-IN" sz="4000" b="1" dirty="0">
                <a:solidFill>
                  <a:srgbClr val="C00000"/>
                </a:solidFill>
                <a:ea typeface="Cambria" panose="02040503050406030204" pitchFamily="18" charset="0"/>
                <a:cs typeface="Times New Roman" panose="02020603050405020304" pitchFamily="18" charset="0"/>
                <a:sym typeface="Arial"/>
              </a:rPr>
              <a:t>Project Title</a:t>
            </a: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369332"/>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a:rPr>
              <a:t> </a:t>
            </a:r>
            <a:r>
              <a:rPr lang="en-IN" b="1" dirty="0">
                <a:solidFill>
                  <a:srgbClr val="0070C0"/>
                </a:solidFill>
                <a:ea typeface="Cambria" panose="02040503050406030204" pitchFamily="18" charset="0"/>
                <a:cs typeface="Times New Roman" panose="02020603050405020304" pitchFamily="18" charset="0"/>
                <a:sym typeface="Arial"/>
              </a:rPr>
              <a:t>Faculty Mentor: Mr. Digvijay Singh</a:t>
            </a:r>
            <a:endParaRPr lang="en-IN" sz="1800" b="1" dirty="0">
              <a:solidFill>
                <a:srgbClr val="0070C0"/>
              </a:solidFill>
              <a:ea typeface="Cambria" panose="020405030504060302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14D219D-3153-0D62-68B4-C466ABFE0D8D}"/>
              </a:ext>
            </a:extLst>
          </p:cNvPr>
          <p:cNvSpPr txBox="1"/>
          <p:nvPr/>
        </p:nvSpPr>
        <p:spPr>
          <a:xfrm>
            <a:off x="72008" y="1268760"/>
            <a:ext cx="9036496" cy="2585323"/>
          </a:xfrm>
          <a:prstGeom prst="rect">
            <a:avLst/>
          </a:prstGeom>
          <a:noFill/>
        </p:spPr>
        <p:txBody>
          <a:bodyPr wrap="square" rtlCol="0">
            <a:spAutoFit/>
          </a:bodyPr>
          <a:lstStyle/>
          <a:p>
            <a:r>
              <a:rPr lang="en-US" dirty="0"/>
              <a:t>In the field of computer applications, data analysis plays an important role in extracting meaningful information from large datasets. Biological health datasets contain structured data related to diseases and population health, that can be effectively analyzed using computational tools. </a:t>
            </a:r>
          </a:p>
          <a:p>
            <a:r>
              <a:rPr lang="en-US" dirty="0"/>
              <a:t>This project aims to apply basic computing and data analysis techniques to biological health datasets in order to identify disease-related patterns. The focus of the study is on handling, processing, and analyzing health data using programming and statistical methods. </a:t>
            </a:r>
          </a:p>
          <a:p>
            <a:r>
              <a:rPr lang="en-US" dirty="0"/>
              <a:t>The project handles secondary biological health data and employs data cleaning, organization, visualization, and interpretation through computational approaches.</a:t>
            </a:r>
            <a:endParaRPr lang="en-IN" dirty="0"/>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51480A4-A108-46F6-BF65-55C32E369ADC}"/>
              </a:ext>
            </a:extLst>
          </p:cNvPr>
          <p:cNvSpPr txBox="1"/>
          <p:nvPr/>
        </p:nvSpPr>
        <p:spPr>
          <a:xfrm>
            <a:off x="179512" y="1412775"/>
            <a:ext cx="8856984"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To apply programming and data analysis concepts to real-world biological datasets </a:t>
            </a:r>
          </a:p>
          <a:p>
            <a:pPr marL="285750" indent="-285750">
              <a:buFont typeface="Arial" panose="020B0604020202020204" pitchFamily="34" charset="0"/>
              <a:buChar char="•"/>
            </a:pPr>
            <a:r>
              <a:rPr lang="en-US" dirty="0"/>
              <a:t>To collect and manage biological health data using computational tools </a:t>
            </a:r>
          </a:p>
          <a:p>
            <a:pPr marL="285750" indent="-285750">
              <a:buFont typeface="Arial" panose="020B0604020202020204" pitchFamily="34" charset="0"/>
              <a:buChar char="•"/>
            </a:pPr>
            <a:r>
              <a:rPr lang="en-US" dirty="0"/>
              <a:t>To perform exploratory data analysis using statistical and visualization techniques </a:t>
            </a:r>
          </a:p>
          <a:p>
            <a:pPr marL="285750" indent="-285750">
              <a:buFont typeface="Arial" panose="020B0604020202020204" pitchFamily="34" charset="0"/>
              <a:buChar char="•"/>
            </a:pPr>
            <a:r>
              <a:rPr lang="en-US" dirty="0"/>
              <a:t>To identify disease-related patterns through data interpretation </a:t>
            </a:r>
          </a:p>
          <a:p>
            <a:pPr marL="285750" indent="-285750">
              <a:buFont typeface="Arial" panose="020B0604020202020204" pitchFamily="34" charset="0"/>
              <a:buChar char="•"/>
            </a:pPr>
            <a:r>
              <a:rPr lang="en-US" dirty="0"/>
              <a:t>To improve practical understanding of data handling and analysis using programming</a:t>
            </a:r>
            <a:endParaRPr lang="en-IN" dirty="0"/>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07672B4-8586-F839-7E4D-ABD712F690B3}"/>
              </a:ext>
            </a:extLst>
          </p:cNvPr>
          <p:cNvSpPr txBox="1"/>
          <p:nvPr/>
        </p:nvSpPr>
        <p:spPr>
          <a:xfrm>
            <a:off x="323528" y="1412776"/>
            <a:ext cx="8712968" cy="2308324"/>
          </a:xfrm>
          <a:prstGeom prst="rect">
            <a:avLst/>
          </a:prstGeom>
          <a:noFill/>
        </p:spPr>
        <p:txBody>
          <a:bodyPr wrap="square" rtlCol="0">
            <a:spAutoFit/>
          </a:bodyPr>
          <a:lstStyle/>
          <a:p>
            <a:r>
              <a:rPr lang="en-US" dirty="0"/>
              <a:t>The project focuses on applying computational techniques to analyze biological health datasets through structured exploratory data analysis. It includes data preprocessing methods such as cleaning, normalization, and handling missing values to ensure reliable analysis. </a:t>
            </a:r>
          </a:p>
          <a:p>
            <a:r>
              <a:rPr lang="en-US" dirty="0"/>
              <a:t>Statistical summaries and visualizations are generated to reveal disease-related trends and patterns. The system emphasizes data organization, aggregation, and interpretation using programming libraries. The project also promotes reproducibility and documentation of analytical workflows, allowing systematic evaluation of biological health information.</a:t>
            </a:r>
            <a:endParaRPr lang="en-IN" dirty="0"/>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3F2B-4274-D144-7093-B867F4CB379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9527858-67DE-3DF8-FF01-8DB1846AEB1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D2CBC630-DA86-8B5C-8CF1-BBD133225A5E}"/>
              </a:ext>
            </a:extLst>
          </p:cNvPr>
          <p:cNvSpPr>
            <a:spLocks noChangeArrowheads="1"/>
          </p:cNvSpPr>
          <p:nvPr/>
        </p:nvSpPr>
        <p:spPr bwMode="auto">
          <a:xfrm>
            <a:off x="179512" y="244288"/>
            <a:ext cx="56886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Progress Summary</a:t>
            </a:r>
            <a:endParaRPr lang="en-IN" sz="32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FB5C432-E63F-6355-19A5-32B65372F4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D3DC83-45E5-89A4-957B-69C5B50632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6412DA-6D17-40E5-6A15-8B5AF801558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F041B83-A590-A367-C8B8-B79A4B6DFF5D}"/>
              </a:ext>
            </a:extLst>
          </p:cNvPr>
          <p:cNvSpPr txBox="1"/>
          <p:nvPr/>
        </p:nvSpPr>
        <p:spPr>
          <a:xfrm>
            <a:off x="179512" y="1412776"/>
            <a:ext cx="8784976" cy="1754326"/>
          </a:xfrm>
          <a:prstGeom prst="rect">
            <a:avLst/>
          </a:prstGeom>
          <a:noFill/>
        </p:spPr>
        <p:txBody>
          <a:bodyPr wrap="square" rtlCol="0">
            <a:spAutoFit/>
          </a:bodyPr>
          <a:lstStyle/>
          <a:p>
            <a:pPr marL="342900" indent="-342900">
              <a:buFont typeface="+mj-lt"/>
              <a:buAutoNum type="arabicPeriod"/>
            </a:pPr>
            <a:r>
              <a:rPr lang="en-US" dirty="0"/>
              <a:t>An appropriate Health dataset was chosen from valid government provided datasets from ndap.niti.gov.in.</a:t>
            </a:r>
          </a:p>
          <a:p>
            <a:pPr marL="342900" indent="-342900">
              <a:buFont typeface="+mj-lt"/>
              <a:buAutoNum type="arabicPeriod"/>
            </a:pPr>
            <a:r>
              <a:rPr lang="en-US" dirty="0"/>
              <a:t>The Health dataset featured various relevant columns – Country, State, Year, Sex, Type Of Disease, Cases and Deaths.</a:t>
            </a:r>
          </a:p>
          <a:p>
            <a:pPr marL="342900" indent="-342900">
              <a:buFont typeface="+mj-lt"/>
              <a:buAutoNum type="arabicPeriod"/>
            </a:pPr>
            <a:r>
              <a:rPr lang="en-US" dirty="0"/>
              <a:t>The dataset was imported from the website into a Pandas program for cleaning.</a:t>
            </a:r>
          </a:p>
          <a:p>
            <a:pPr marL="342900" indent="-342900">
              <a:buFont typeface="+mj-lt"/>
              <a:buAutoNum type="arabicPeriod"/>
            </a:pPr>
            <a:r>
              <a:rPr lang="en-US" dirty="0"/>
              <a:t>The dataset was cleaned and saved for further analysis.</a:t>
            </a:r>
            <a:endParaRPr lang="en-IN" dirty="0"/>
          </a:p>
        </p:txBody>
      </p:sp>
    </p:spTree>
    <p:extLst>
      <p:ext uri="{BB962C8B-B14F-4D97-AF65-F5344CB8AC3E}">
        <p14:creationId xmlns:p14="http://schemas.microsoft.com/office/powerpoint/2010/main" val="1305621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C45B-C9D0-DBF5-811F-0F08DB7B92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CCAFCE0-31E7-9CED-BEF6-9C94A97D7C0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C8D1C93-2569-153C-C90B-6D82C35C195E}"/>
              </a:ext>
            </a:extLst>
          </p:cNvPr>
          <p:cNvSpPr>
            <a:spLocks noChangeArrowheads="1"/>
          </p:cNvSpPr>
          <p:nvPr/>
        </p:nvSpPr>
        <p:spPr bwMode="auto">
          <a:xfrm>
            <a:off x="179512" y="377423"/>
            <a:ext cx="89644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kern="100" dirty="0">
                <a:latin typeface="Verdana" panose="020B0604030504040204" pitchFamily="34" charset="0"/>
                <a:cs typeface="Times New Roman" panose="02020603050405020304" pitchFamily="18" charset="0"/>
                <a:sym typeface="Arial"/>
              </a:rPr>
              <a:t>Detailed Progress – Development Phase</a:t>
            </a:r>
            <a:endParaRPr lang="en-IN" sz="28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6161CDA-82E4-E4CE-AB8A-F7E4594878E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B65409-50C0-1C48-4C06-AA7695D3A2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76722ED-8470-7053-515E-9884E320EC4C}"/>
              </a:ext>
            </a:extLst>
          </p:cNvPr>
          <p:cNvSpPr txBox="1"/>
          <p:nvPr/>
        </p:nvSpPr>
        <p:spPr>
          <a:xfrm>
            <a:off x="179512" y="1268760"/>
            <a:ext cx="8856984" cy="2308324"/>
          </a:xfrm>
          <a:prstGeom prst="rect">
            <a:avLst/>
          </a:prstGeom>
          <a:noFill/>
        </p:spPr>
        <p:txBody>
          <a:bodyPr wrap="square" rtlCol="0">
            <a:spAutoFit/>
          </a:bodyPr>
          <a:lstStyle/>
          <a:p>
            <a:r>
              <a:rPr lang="en-US" dirty="0"/>
              <a:t>We decided upon a healthcare related dataset because of its various factors and complex nature.</a:t>
            </a:r>
          </a:p>
          <a:p>
            <a:r>
              <a:rPr lang="en-US" dirty="0"/>
              <a:t>The dataset was sourced from the National Data and Analytics Platform (NDAP).</a:t>
            </a:r>
          </a:p>
          <a:p>
            <a:r>
              <a:rPr lang="en-US" dirty="0"/>
              <a:t>The dataset features columns for Country, State, Year, Sex, Type Of Disease, Cases and Deaths.</a:t>
            </a:r>
          </a:p>
          <a:p>
            <a:r>
              <a:rPr lang="en-IN" dirty="0"/>
              <a:t>The dataset was cleaned using a Pandas and </a:t>
            </a:r>
            <a:r>
              <a:rPr lang="en-IN" dirty="0" err="1"/>
              <a:t>numpy</a:t>
            </a:r>
            <a:r>
              <a:rPr lang="en-IN" dirty="0"/>
              <a:t> program.</a:t>
            </a:r>
          </a:p>
          <a:p>
            <a:r>
              <a:rPr lang="en-IN" dirty="0"/>
              <a:t>- Column names were simplified</a:t>
            </a:r>
          </a:p>
          <a:p>
            <a:r>
              <a:rPr lang="en-IN" dirty="0"/>
              <a:t>- Missing values were filled using mean techniques</a:t>
            </a:r>
          </a:p>
        </p:txBody>
      </p:sp>
    </p:spTree>
    <p:extLst>
      <p:ext uri="{BB962C8B-B14F-4D97-AF65-F5344CB8AC3E}">
        <p14:creationId xmlns:p14="http://schemas.microsoft.com/office/powerpoint/2010/main" val="130254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047"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A71A9566-20CF-8C9C-13F9-FAE74673CC41}"/>
              </a:ext>
            </a:extLst>
          </p:cNvPr>
          <p:cNvSpPr txBox="1"/>
          <p:nvPr/>
        </p:nvSpPr>
        <p:spPr>
          <a:xfrm rot="10800000" flipH="1" flipV="1">
            <a:off x="290133" y="1279823"/>
            <a:ext cx="8600245" cy="369332"/>
          </a:xfrm>
          <a:prstGeom prst="rect">
            <a:avLst/>
          </a:prstGeom>
          <a:noFill/>
        </p:spPr>
        <p:txBody>
          <a:bodyPr wrap="square" rtlCol="0">
            <a:spAutoFit/>
          </a:bodyPr>
          <a:lstStyle/>
          <a:p>
            <a:r>
              <a:rPr lang="en-US" dirty="0"/>
              <a:t>Dataset was imported to VS-Code.</a:t>
            </a:r>
            <a:endParaRPr lang="en-IN" dirty="0"/>
          </a:p>
        </p:txBody>
      </p:sp>
      <p:pic>
        <p:nvPicPr>
          <p:cNvPr id="22" name="Picture 21">
            <a:extLst>
              <a:ext uri="{FF2B5EF4-FFF2-40B4-BE49-F238E27FC236}">
                <a16:creationId xmlns:a16="http://schemas.microsoft.com/office/drawing/2014/main" id="{977701D5-48D8-78A2-0039-7E9F14A5EC7A}"/>
              </a:ext>
            </a:extLst>
          </p:cNvPr>
          <p:cNvPicPr>
            <a:picLocks noChangeAspect="1"/>
          </p:cNvPicPr>
          <p:nvPr/>
        </p:nvPicPr>
        <p:blipFill>
          <a:blip r:embed="rId5"/>
          <a:stretch>
            <a:fillRect/>
          </a:stretch>
        </p:blipFill>
        <p:spPr>
          <a:xfrm>
            <a:off x="395536" y="1649156"/>
            <a:ext cx="3228975" cy="1095375"/>
          </a:xfrm>
          <a:prstGeom prst="rect">
            <a:avLst/>
          </a:prstGeom>
        </p:spPr>
      </p:pic>
      <p:sp>
        <p:nvSpPr>
          <p:cNvPr id="23" name="TextBox 22">
            <a:extLst>
              <a:ext uri="{FF2B5EF4-FFF2-40B4-BE49-F238E27FC236}">
                <a16:creationId xmlns:a16="http://schemas.microsoft.com/office/drawing/2014/main" id="{653E0597-6FE0-7082-C618-920A5AEDF338}"/>
              </a:ext>
            </a:extLst>
          </p:cNvPr>
          <p:cNvSpPr txBox="1"/>
          <p:nvPr/>
        </p:nvSpPr>
        <p:spPr>
          <a:xfrm>
            <a:off x="290133" y="2828797"/>
            <a:ext cx="2515240" cy="369332"/>
          </a:xfrm>
          <a:prstGeom prst="rect">
            <a:avLst/>
          </a:prstGeom>
          <a:noFill/>
        </p:spPr>
        <p:txBody>
          <a:bodyPr wrap="none" rtlCol="0">
            <a:spAutoFit/>
          </a:bodyPr>
          <a:lstStyle/>
          <a:p>
            <a:r>
              <a:rPr lang="en-US" dirty="0"/>
              <a:t>Raw data was displayed.</a:t>
            </a:r>
            <a:endParaRPr lang="en-IN" dirty="0"/>
          </a:p>
        </p:txBody>
      </p:sp>
      <p:pic>
        <p:nvPicPr>
          <p:cNvPr id="25" name="Picture 24">
            <a:extLst>
              <a:ext uri="{FF2B5EF4-FFF2-40B4-BE49-F238E27FC236}">
                <a16:creationId xmlns:a16="http://schemas.microsoft.com/office/drawing/2014/main" id="{46D1637D-A46B-3790-0ECA-85E459BE764D}"/>
              </a:ext>
            </a:extLst>
          </p:cNvPr>
          <p:cNvPicPr>
            <a:picLocks noChangeAspect="1"/>
          </p:cNvPicPr>
          <p:nvPr/>
        </p:nvPicPr>
        <p:blipFill>
          <a:blip r:embed="rId6"/>
          <a:stretch>
            <a:fillRect/>
          </a:stretch>
        </p:blipFill>
        <p:spPr>
          <a:xfrm>
            <a:off x="421832" y="3177727"/>
            <a:ext cx="3228975" cy="1306320"/>
          </a:xfrm>
          <a:prstGeom prst="rect">
            <a:avLst/>
          </a:prstGeom>
        </p:spPr>
      </p:pic>
      <p:sp>
        <p:nvSpPr>
          <p:cNvPr id="26" name="TextBox 25">
            <a:extLst>
              <a:ext uri="{FF2B5EF4-FFF2-40B4-BE49-F238E27FC236}">
                <a16:creationId xmlns:a16="http://schemas.microsoft.com/office/drawing/2014/main" id="{BD29A8CA-CE8E-A753-574A-52F1DD2FE38E}"/>
              </a:ext>
            </a:extLst>
          </p:cNvPr>
          <p:cNvSpPr txBox="1"/>
          <p:nvPr/>
        </p:nvSpPr>
        <p:spPr>
          <a:xfrm>
            <a:off x="395536" y="4797152"/>
            <a:ext cx="3384376" cy="923330"/>
          </a:xfrm>
          <a:prstGeom prst="rect">
            <a:avLst/>
          </a:prstGeom>
          <a:noFill/>
        </p:spPr>
        <p:txBody>
          <a:bodyPr wrap="square" rtlCol="0">
            <a:spAutoFit/>
          </a:bodyPr>
          <a:lstStyle/>
          <a:p>
            <a:r>
              <a:rPr lang="en-US" dirty="0"/>
              <a:t>Column Names were simplified and missing values were filled in using mean</a:t>
            </a:r>
            <a:endParaRPr lang="en-IN" dirty="0"/>
          </a:p>
        </p:txBody>
      </p:sp>
      <p:pic>
        <p:nvPicPr>
          <p:cNvPr id="28" name="Picture 27">
            <a:extLst>
              <a:ext uri="{FF2B5EF4-FFF2-40B4-BE49-F238E27FC236}">
                <a16:creationId xmlns:a16="http://schemas.microsoft.com/office/drawing/2014/main" id="{75719F31-68EF-D3D8-B9FE-9C4E66EEA60B}"/>
              </a:ext>
            </a:extLst>
          </p:cNvPr>
          <p:cNvPicPr>
            <a:picLocks noChangeAspect="1"/>
          </p:cNvPicPr>
          <p:nvPr/>
        </p:nvPicPr>
        <p:blipFill>
          <a:blip r:embed="rId7"/>
          <a:stretch>
            <a:fillRect/>
          </a:stretch>
        </p:blipFill>
        <p:spPr>
          <a:xfrm>
            <a:off x="3752067" y="1110830"/>
            <a:ext cx="2729268" cy="5633864"/>
          </a:xfrm>
          <a:prstGeom prst="rect">
            <a:avLst/>
          </a:prstGeom>
        </p:spPr>
      </p:pic>
    </p:spTree>
    <p:extLst>
      <p:ext uri="{BB962C8B-B14F-4D97-AF65-F5344CB8AC3E}">
        <p14:creationId xmlns:p14="http://schemas.microsoft.com/office/powerpoint/2010/main" val="1099878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BB1AC4FE-9A4F-F464-CA8E-3B900C2974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72AEF02E-64A6-6432-1444-81368AF7F7EA}"/>
                  </a:ext>
                </a:extLst>
              </p14:cNvPr>
              <p14:cNvContentPartPr/>
              <p14:nvPr/>
            </p14:nvContentPartPr>
            <p14:xfrm>
              <a:off x="6087360" y="2475240"/>
              <a:ext cx="646200" cy="333720"/>
            </p14:xfrm>
          </p:contentPart>
        </mc:Choice>
        <mc:Fallback xmlns="">
          <p:pic>
            <p:nvPicPr>
              <p:cNvPr id="14" name="Ink 13">
                <a:extLst>
                  <a:ext uri="{FF2B5EF4-FFF2-40B4-BE49-F238E27FC236}">
                    <a16:creationId xmlns:a16="http://schemas.microsoft.com/office/drawing/2014/main" id="{72AEF02E-64A6-6432-1444-81368AF7F7EA}"/>
                  </a:ext>
                </a:extLst>
              </p:cNvPr>
              <p:cNvPicPr/>
              <p:nvPr/>
            </p:nvPicPr>
            <p:blipFill>
              <a:blip r:embed="rId7"/>
              <a:stretch>
                <a:fillRect/>
              </a:stretch>
            </p:blipFill>
            <p:spPr>
              <a:xfrm>
                <a:off x="6024360" y="2412240"/>
                <a:ext cx="771840" cy="459360"/>
              </a:xfrm>
              <a:prstGeom prst="rect">
                <a:avLst/>
              </a:prstGeom>
            </p:spPr>
          </p:pic>
        </mc:Fallback>
      </mc:AlternateContent>
      <p:graphicFrame>
        <p:nvGraphicFramePr>
          <p:cNvPr id="2" name="Diagram 1">
            <a:extLst>
              <a:ext uri="{FF2B5EF4-FFF2-40B4-BE49-F238E27FC236}">
                <a16:creationId xmlns:a16="http://schemas.microsoft.com/office/drawing/2014/main" id="{52A1EBDA-BC3B-BA38-6985-8528B20FCB9E}"/>
              </a:ext>
            </a:extLst>
          </p:cNvPr>
          <p:cNvGraphicFramePr/>
          <p:nvPr>
            <p:extLst>
              <p:ext uri="{D42A27DB-BD31-4B8C-83A1-F6EECF244321}">
                <p14:modId xmlns:p14="http://schemas.microsoft.com/office/powerpoint/2010/main" val="3704972862"/>
              </p:ext>
            </p:extLst>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93371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66FAC4-E627-209B-D9A4-20EC84D69C4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D3A55479-5820-9331-B8CC-0F9A13C7AC18}"/>
                  </a:ext>
                </a:extLst>
              </p14:cNvPr>
              <p14:cNvContentPartPr/>
              <p14:nvPr/>
            </p14:nvContentPartPr>
            <p14:xfrm>
              <a:off x="7203160" y="2489200"/>
              <a:ext cx="484560" cy="34920"/>
            </p14:xfrm>
          </p:contentPart>
        </mc:Choice>
        <mc:Fallback xmlns="">
          <p:pic>
            <p:nvPicPr>
              <p:cNvPr id="11" name="Ink 10">
                <a:extLst>
                  <a:ext uri="{FF2B5EF4-FFF2-40B4-BE49-F238E27FC236}">
                    <a16:creationId xmlns:a16="http://schemas.microsoft.com/office/drawing/2014/main" id="{D3A55479-5820-9331-B8CC-0F9A13C7AC18}"/>
                  </a:ext>
                </a:extLst>
              </p:cNvPr>
              <p:cNvPicPr/>
              <p:nvPr/>
            </p:nvPicPr>
            <p:blipFill>
              <a:blip r:embed="rId7"/>
              <a:stretch>
                <a:fillRect/>
              </a:stretch>
            </p:blipFill>
            <p:spPr>
              <a:xfrm>
                <a:off x="7140520" y="2426200"/>
                <a:ext cx="610200" cy="160560"/>
              </a:xfrm>
              <a:prstGeom prst="rect">
                <a:avLst/>
              </a:prstGeom>
            </p:spPr>
          </p:pic>
        </mc:Fallback>
      </mc:AlternateContent>
      <p:sp>
        <p:nvSpPr>
          <p:cNvPr id="2" name="TextBox 1">
            <a:extLst>
              <a:ext uri="{FF2B5EF4-FFF2-40B4-BE49-F238E27FC236}">
                <a16:creationId xmlns:a16="http://schemas.microsoft.com/office/drawing/2014/main" id="{08CAAF9A-0735-E41E-3C14-3EAD0AFB0EBA}"/>
              </a:ext>
            </a:extLst>
          </p:cNvPr>
          <p:cNvSpPr txBox="1"/>
          <p:nvPr/>
        </p:nvSpPr>
        <p:spPr>
          <a:xfrm>
            <a:off x="179512" y="1293834"/>
            <a:ext cx="8784976" cy="2031325"/>
          </a:xfrm>
          <a:prstGeom prst="rect">
            <a:avLst/>
          </a:prstGeom>
          <a:noFill/>
        </p:spPr>
        <p:txBody>
          <a:bodyPr wrap="square" rtlCol="0">
            <a:spAutoFit/>
          </a:bodyPr>
          <a:lstStyle/>
          <a:p>
            <a:pPr marL="285750" indent="-285750">
              <a:buFont typeface="Arial" panose="020B0604020202020204" pitchFamily="34" charset="0"/>
              <a:buChar char="•"/>
            </a:pPr>
            <a:r>
              <a:rPr lang="en-US" dirty="0"/>
              <a:t>Problem statement was chosen.</a:t>
            </a:r>
          </a:p>
          <a:p>
            <a:pPr marL="285750" indent="-285750">
              <a:buFont typeface="Arial" panose="020B0604020202020204" pitchFamily="34" charset="0"/>
              <a:buChar char="•"/>
            </a:pPr>
            <a:r>
              <a:rPr lang="en-US" dirty="0"/>
              <a:t>Problem statement was approved.</a:t>
            </a:r>
          </a:p>
          <a:p>
            <a:pPr marL="285750" indent="-285750">
              <a:buFont typeface="Arial" panose="020B0604020202020204" pitchFamily="34" charset="0"/>
              <a:buChar char="•"/>
            </a:pPr>
            <a:r>
              <a:rPr lang="en-US" dirty="0"/>
              <a:t>Synopsis Presentation was created.</a:t>
            </a:r>
          </a:p>
          <a:p>
            <a:pPr marL="285750" indent="-285750">
              <a:buFont typeface="Arial" panose="020B0604020202020204" pitchFamily="34" charset="0"/>
              <a:buChar char="•"/>
            </a:pPr>
            <a:r>
              <a:rPr lang="en-US" dirty="0"/>
              <a:t>Synopsis Report was finalized.</a:t>
            </a:r>
          </a:p>
          <a:p>
            <a:pPr marL="285750" indent="-285750">
              <a:buFont typeface="Arial" panose="020B0604020202020204" pitchFamily="34" charset="0"/>
              <a:buChar char="•"/>
            </a:pPr>
            <a:r>
              <a:rPr lang="en-US" dirty="0"/>
              <a:t>Dataset was chosen.</a:t>
            </a:r>
          </a:p>
          <a:p>
            <a:pPr marL="285750" indent="-285750">
              <a:buFont typeface="Arial" panose="020B0604020202020204" pitchFamily="34" charset="0"/>
              <a:buChar char="•"/>
            </a:pPr>
            <a:r>
              <a:rPr lang="en-US" dirty="0"/>
              <a:t>Dataset was cleaned.</a:t>
            </a:r>
          </a:p>
          <a:p>
            <a:pPr marL="285750" indent="-285750">
              <a:buFont typeface="Arial" panose="020B0604020202020204" pitchFamily="34" charset="0"/>
              <a:buChar char="•"/>
            </a:pPr>
            <a:r>
              <a:rPr lang="en-US" dirty="0" err="1"/>
              <a:t>Midsem</a:t>
            </a:r>
            <a:r>
              <a:rPr lang="en-US" dirty="0"/>
              <a:t> Presentation was created.</a:t>
            </a:r>
          </a:p>
        </p:txBody>
      </p:sp>
    </p:spTree>
    <p:extLst>
      <p:ext uri="{BB962C8B-B14F-4D97-AF65-F5344CB8AC3E}">
        <p14:creationId xmlns:p14="http://schemas.microsoft.com/office/powerpoint/2010/main" val="3449508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DCA2-809E-6D83-D42D-750510F89F8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1972655-A0FD-7923-EAE6-F8504228D9A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586354D-B57C-4AB5-50E5-D5E6E2A516C6}"/>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Next Steps and Goals</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9AA045F8-58D6-32DE-1A78-7BF61B46874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2C63B0B-38AB-BDC6-BC45-A8B7244E28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305AE5B-E43E-CFC9-59E3-0853A368E8B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871A80A2-EA03-6476-D9C3-239857EC94CB}"/>
                  </a:ext>
                </a:extLst>
              </p14:cNvPr>
              <p14:cNvContentPartPr/>
              <p14:nvPr/>
            </p14:nvContentPartPr>
            <p14:xfrm>
              <a:off x="7203160" y="2489200"/>
              <a:ext cx="484560" cy="34920"/>
            </p14:xfrm>
          </p:contentPart>
        </mc:Choice>
        <mc:Fallback xmlns="">
          <p:pic>
            <p:nvPicPr>
              <p:cNvPr id="11" name="Ink 10">
                <a:extLst>
                  <a:ext uri="{FF2B5EF4-FFF2-40B4-BE49-F238E27FC236}">
                    <a16:creationId xmlns:a16="http://schemas.microsoft.com/office/drawing/2014/main" id="{871A80A2-EA03-6476-D9C3-239857EC94CB}"/>
                  </a:ext>
                </a:extLst>
              </p:cNvPr>
              <p:cNvPicPr/>
              <p:nvPr/>
            </p:nvPicPr>
            <p:blipFill>
              <a:blip r:embed="rId6"/>
              <a:stretch>
                <a:fillRect/>
              </a:stretch>
            </p:blipFill>
            <p:spPr>
              <a:xfrm>
                <a:off x="7140160" y="2426200"/>
                <a:ext cx="610200" cy="160560"/>
              </a:xfrm>
              <a:prstGeom prst="rect">
                <a:avLst/>
              </a:prstGeom>
            </p:spPr>
          </p:pic>
        </mc:Fallback>
      </mc:AlternateContent>
      <p:sp>
        <p:nvSpPr>
          <p:cNvPr id="2" name="TextBox 1">
            <a:extLst>
              <a:ext uri="{FF2B5EF4-FFF2-40B4-BE49-F238E27FC236}">
                <a16:creationId xmlns:a16="http://schemas.microsoft.com/office/drawing/2014/main" id="{1FDBA961-6D32-A9F2-EFB8-7A3A50E08E92}"/>
              </a:ext>
            </a:extLst>
          </p:cNvPr>
          <p:cNvSpPr txBox="1"/>
          <p:nvPr/>
        </p:nvSpPr>
        <p:spPr>
          <a:xfrm>
            <a:off x="323528" y="1484784"/>
            <a:ext cx="864096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Dataset will be analyzed.</a:t>
            </a:r>
          </a:p>
          <a:p>
            <a:pPr marL="285750" indent="-285750">
              <a:buFont typeface="Arial" panose="020B0604020202020204" pitchFamily="34" charset="0"/>
              <a:buChar char="•"/>
            </a:pPr>
            <a:r>
              <a:rPr lang="en-US" dirty="0"/>
              <a:t>Dataset will be visualized</a:t>
            </a:r>
            <a:r>
              <a:rPr lang="en-IN" dirty="0"/>
              <a:t> using matplotlib and </a:t>
            </a:r>
            <a:r>
              <a:rPr lang="en-IN" dirty="0" err="1"/>
              <a:t>streamlit</a:t>
            </a:r>
            <a:r>
              <a:rPr lang="en-IN" dirty="0"/>
              <a:t>.</a:t>
            </a:r>
          </a:p>
          <a:p>
            <a:pPr marL="285750" indent="-285750">
              <a:buFont typeface="Arial" panose="020B0604020202020204" pitchFamily="34" charset="0"/>
              <a:buChar char="•"/>
            </a:pPr>
            <a:r>
              <a:rPr lang="en-US" dirty="0"/>
              <a:t>Conclusions regarding the dataset will be drawn.</a:t>
            </a:r>
          </a:p>
          <a:p>
            <a:pPr marL="285750" indent="-285750">
              <a:buFont typeface="Arial" panose="020B0604020202020204" pitchFamily="34" charset="0"/>
              <a:buChar char="•"/>
            </a:pPr>
            <a:r>
              <a:rPr lang="en-US" dirty="0"/>
              <a:t>Final report will be made.</a:t>
            </a:r>
          </a:p>
          <a:p>
            <a:endParaRPr lang="en-US" dirty="0"/>
          </a:p>
        </p:txBody>
      </p:sp>
    </p:spTree>
    <p:extLst>
      <p:ext uri="{BB962C8B-B14F-4D97-AF65-F5344CB8AC3E}">
        <p14:creationId xmlns:p14="http://schemas.microsoft.com/office/powerpoint/2010/main" val="2366508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D3BBA19B-DA0D-01E8-9D55-374DB912C8FB}"/>
              </a:ext>
            </a:extLst>
          </p:cNvPr>
          <p:cNvSpPr txBox="1"/>
          <p:nvPr/>
        </p:nvSpPr>
        <p:spPr>
          <a:xfrm>
            <a:off x="179512" y="1412776"/>
            <a:ext cx="8784976" cy="1200329"/>
          </a:xfrm>
          <a:prstGeom prst="rect">
            <a:avLst/>
          </a:prstGeom>
          <a:noFill/>
        </p:spPr>
        <p:txBody>
          <a:bodyPr wrap="square" rtlCol="0">
            <a:spAutoFit/>
          </a:bodyPr>
          <a:lstStyle/>
          <a:p>
            <a:pPr marL="285750" indent="-285750">
              <a:buFont typeface="Arial" panose="020B0604020202020204" pitchFamily="34" charset="0"/>
              <a:buChar char="•"/>
            </a:pPr>
            <a:r>
              <a:rPr lang="en-US" dirty="0">
                <a:hlinkClick r:id="rId5"/>
              </a:rPr>
              <a:t>https://ndap.niti.gov.in</a:t>
            </a:r>
            <a:endParaRPr lang="en-US" dirty="0"/>
          </a:p>
          <a:p>
            <a:pPr marL="285750" indent="-285750">
              <a:buFont typeface="Arial" panose="020B0604020202020204" pitchFamily="34" charset="0"/>
              <a:buChar char="•"/>
            </a:pPr>
            <a:r>
              <a:rPr lang="en-IN" dirty="0">
                <a:hlinkClick r:id="rId6"/>
              </a:rPr>
              <a:t>https://pandas.pydata.org/docs/</a:t>
            </a:r>
            <a:endParaRPr lang="en-IN" dirty="0"/>
          </a:p>
          <a:p>
            <a:pPr marL="285750" indent="-285750">
              <a:buFont typeface="Arial" panose="020B0604020202020204" pitchFamily="34" charset="0"/>
              <a:buChar char="•"/>
            </a:pPr>
            <a:r>
              <a:rPr lang="en-IN" dirty="0">
                <a:hlinkClick r:id="rId7"/>
              </a:rPr>
              <a:t>https://numpy.org/doc/</a:t>
            </a:r>
            <a:endParaRPr lang="en-IN" dirty="0"/>
          </a:p>
          <a:p>
            <a:pPr marL="285750" indent="-285750">
              <a:buFont typeface="Arial" panose="020B0604020202020204" pitchFamily="34" charset="0"/>
              <a:buChar char="•"/>
            </a:pPr>
            <a:r>
              <a:rPr lang="en-IN" dirty="0">
                <a:hlinkClick r:id="rId8"/>
              </a:rPr>
              <a:t>https://projexa.ai/student/e-resources</a:t>
            </a:r>
            <a:endParaRPr lang="en-IN" dirty="0"/>
          </a:p>
        </p:txBody>
      </p:sp>
    </p:spTree>
    <p:extLst>
      <p:ext uri="{BB962C8B-B14F-4D97-AF65-F5344CB8AC3E}">
        <p14:creationId xmlns:p14="http://schemas.microsoft.com/office/powerpoint/2010/main" val="3449068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4976" y="-13692"/>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CDBF792E-187F-9DBB-D122-0E4F2B7AEA31}"/>
              </a:ext>
            </a:extLst>
          </p:cNvPr>
          <p:cNvSpPr txBox="1"/>
          <p:nvPr/>
        </p:nvSpPr>
        <p:spPr>
          <a:xfrm>
            <a:off x="179512" y="1412776"/>
            <a:ext cx="8640960" cy="2308324"/>
          </a:xfrm>
          <a:prstGeom prst="rect">
            <a:avLst/>
          </a:prstGeom>
          <a:noFill/>
        </p:spPr>
        <p:txBody>
          <a:bodyPr wrap="square" rtlCol="0">
            <a:spAutoFit/>
          </a:bodyPr>
          <a:lstStyle/>
          <a:p>
            <a:r>
              <a:rPr lang="en-US" dirty="0"/>
              <a:t>The scope of this project is limited to exploratory analysis of publicly available biological health datasets using computing tools. It covers data acquisition, preprocessing, statistical exploration, and visualization to identify meaningful disease-related insights. </a:t>
            </a:r>
          </a:p>
          <a:p>
            <a:r>
              <a:rPr lang="en-US" dirty="0"/>
              <a:t>The project does not attempt predictive modeling or clinical decision-making. Instead, it concentrates on demonstrating how computational methods can be applied to structured health datasets to enhance understanding of biological trends and patterns. The scope ensures practical implementation within academic constraints while maintaining analytical rigor.</a:t>
            </a:r>
            <a:endParaRPr lang="en-IN" dirty="0"/>
          </a:p>
        </p:txBody>
      </p:sp>
    </p:spTree>
    <p:extLst>
      <p:ext uri="{BB962C8B-B14F-4D97-AF65-F5344CB8AC3E}">
        <p14:creationId xmlns:p14="http://schemas.microsoft.com/office/powerpoint/2010/main" val="3295812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9EA519E6-68DE-AF1F-3715-D82221524905}"/>
              </a:ext>
            </a:extLst>
          </p:cNvPr>
          <p:cNvSpPr txBox="1"/>
          <p:nvPr/>
        </p:nvSpPr>
        <p:spPr>
          <a:xfrm>
            <a:off x="179512" y="1293834"/>
            <a:ext cx="8964487" cy="2031325"/>
          </a:xfrm>
          <a:prstGeom prst="rect">
            <a:avLst/>
          </a:prstGeom>
          <a:noFill/>
        </p:spPr>
        <p:txBody>
          <a:bodyPr wrap="square" rtlCol="0">
            <a:spAutoFit/>
          </a:bodyPr>
          <a:lstStyle/>
          <a:p>
            <a:r>
              <a:rPr lang="en-US" dirty="0"/>
              <a:t>The project is expected to produce meaningful statistical summaries and visual insights that highlight patterns within biological health datasets. These findings will demonstrate how computational techniques can simplify data interpretation and reveal disease-related trends.</a:t>
            </a:r>
          </a:p>
          <a:p>
            <a:endParaRPr lang="en-US" dirty="0"/>
          </a:p>
          <a:p>
            <a:r>
              <a:rPr lang="en-US" dirty="0"/>
              <a:t>The expected outcome is improved understanding of data handling, visualization, and analytical reasoning using programming tools. The results will showcase the practical role of computing in biological data exploration.</a:t>
            </a:r>
            <a:endParaRPr lang="en-IN" dirty="0"/>
          </a:p>
        </p:txBody>
      </p:sp>
    </p:spTree>
    <p:extLst>
      <p:ext uri="{BB962C8B-B14F-4D97-AF65-F5344CB8AC3E}">
        <p14:creationId xmlns:p14="http://schemas.microsoft.com/office/powerpoint/2010/main" val="256260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6306</TotalTime>
  <Words>856</Words>
  <Application>Microsoft Office PowerPoint</Application>
  <PresentationFormat>On-screen Show (4:3)</PresentationFormat>
  <Paragraphs>114</Paragraphs>
  <Slides>15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Cambria</vt:lpstr>
      <vt:lpstr>Garamond</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Airi Airisha</cp:lastModifiedBy>
  <cp:revision>312</cp:revision>
  <cp:lastPrinted>2022-09-05T08:43:44Z</cp:lastPrinted>
  <dcterms:created xsi:type="dcterms:W3CDTF">2020-01-16T09:05:56Z</dcterms:created>
  <dcterms:modified xsi:type="dcterms:W3CDTF">2026-04-06T09:55:22Z</dcterms:modified>
</cp:coreProperties>
</file>