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png" ContentType="image/png"/>
  <Override PartName="/ppt/media/image3.png" ContentType="image/png"/>
  <Override PartName="/ppt/media/image4.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Lst>
  <p:sldSz cx="9144000" cy="6858000"/>
  <p:notesSz cx="6761163" cy="99425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87E724FF-7E5E-4C31-BAE0-2DA0DB85F184}"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1144440" y="1243080"/>
            <a:ext cx="4471560" cy="3355560"/>
          </a:xfrm>
          <a:prstGeom prst="rect">
            <a:avLst/>
          </a:prstGeom>
          <a:ln w="0">
            <a:noFill/>
          </a:ln>
        </p:spPr>
      </p:sp>
      <p:sp>
        <p:nvSpPr>
          <p:cNvPr id="151"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52" name="PlaceHolder 3"/>
          <p:cNvSpPr>
            <a:spLocks noGrp="1"/>
          </p:cNvSpPr>
          <p:nvPr>
            <p:ph type="sldNum" idx="37"/>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090C687A-5CEA-4494-BB83-38138ABA1FFA}"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1144440" y="1243080"/>
            <a:ext cx="4471560" cy="3355560"/>
          </a:xfrm>
          <a:prstGeom prst="rect">
            <a:avLst/>
          </a:prstGeom>
          <a:ln w="0">
            <a:noFill/>
          </a:ln>
        </p:spPr>
      </p:sp>
      <p:sp>
        <p:nvSpPr>
          <p:cNvPr id="154"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55" name="PlaceHolder 3"/>
          <p:cNvSpPr>
            <a:spLocks noGrp="1"/>
          </p:cNvSpPr>
          <p:nvPr>
            <p:ph type="sldNum" idx="38"/>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15784D15-0509-4951-86E8-AAB40FEBFE84}"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44440" y="1243080"/>
            <a:ext cx="4471560" cy="3355560"/>
          </a:xfrm>
          <a:prstGeom prst="rect">
            <a:avLst/>
          </a:prstGeom>
          <a:ln w="0">
            <a:noFill/>
          </a:ln>
        </p:spPr>
      </p:sp>
      <p:sp>
        <p:nvSpPr>
          <p:cNvPr id="157"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58" name="PlaceHolder 3"/>
          <p:cNvSpPr>
            <a:spLocks noGrp="1"/>
          </p:cNvSpPr>
          <p:nvPr>
            <p:ph type="sldNum" idx="39"/>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596A59B9-93AF-445F-8339-407432719E60}"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1144440" y="1243080"/>
            <a:ext cx="4471560" cy="3355560"/>
          </a:xfrm>
          <a:prstGeom prst="rect">
            <a:avLst/>
          </a:prstGeom>
          <a:ln w="0">
            <a:noFill/>
          </a:ln>
        </p:spPr>
      </p:sp>
      <p:sp>
        <p:nvSpPr>
          <p:cNvPr id="160"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61" name="PlaceHolder 3"/>
          <p:cNvSpPr>
            <a:spLocks noGrp="1"/>
          </p:cNvSpPr>
          <p:nvPr>
            <p:ph type="sldNum" idx="40"/>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0326FBA0-F8FC-4D97-9430-A3129551C416}"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1144440" y="1243080"/>
            <a:ext cx="4471560" cy="3355560"/>
          </a:xfrm>
          <a:prstGeom prst="rect">
            <a:avLst/>
          </a:prstGeom>
          <a:ln w="0">
            <a:noFill/>
          </a:ln>
        </p:spPr>
      </p:sp>
      <p:sp>
        <p:nvSpPr>
          <p:cNvPr id="163"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64" name="PlaceHolder 3"/>
          <p:cNvSpPr>
            <a:spLocks noGrp="1"/>
          </p:cNvSpPr>
          <p:nvPr>
            <p:ph type="sldNum" idx="41"/>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46D5D98E-6ED9-4D6A-8EFE-06E475F57842}"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1144440" y="1243080"/>
            <a:ext cx="4471560" cy="3355560"/>
          </a:xfrm>
          <a:prstGeom prst="rect">
            <a:avLst/>
          </a:prstGeom>
          <a:ln w="0">
            <a:noFill/>
          </a:ln>
        </p:spPr>
      </p:sp>
      <p:sp>
        <p:nvSpPr>
          <p:cNvPr id="166"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67" name="PlaceHolder 3"/>
          <p:cNvSpPr>
            <a:spLocks noGrp="1"/>
          </p:cNvSpPr>
          <p:nvPr>
            <p:ph type="sldNum" idx="42"/>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4AD9E78D-3CAC-4A83-A32E-51CA85EA1CC5}"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1144440" y="1243080"/>
            <a:ext cx="4471560" cy="3355560"/>
          </a:xfrm>
          <a:prstGeom prst="rect">
            <a:avLst/>
          </a:prstGeom>
          <a:ln w="0">
            <a:noFill/>
          </a:ln>
        </p:spPr>
      </p:sp>
      <p:sp>
        <p:nvSpPr>
          <p:cNvPr id="169"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70" name="PlaceHolder 3"/>
          <p:cNvSpPr>
            <a:spLocks noGrp="1"/>
          </p:cNvSpPr>
          <p:nvPr>
            <p:ph type="sldNum" idx="43"/>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BD9C4063-ECDB-430F-8716-40124958FDBC}"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1144440" y="1243080"/>
            <a:ext cx="4471560" cy="3355560"/>
          </a:xfrm>
          <a:prstGeom prst="rect">
            <a:avLst/>
          </a:prstGeom>
          <a:ln w="0">
            <a:noFill/>
          </a:ln>
        </p:spPr>
      </p:sp>
      <p:sp>
        <p:nvSpPr>
          <p:cNvPr id="172"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73" name="PlaceHolder 3"/>
          <p:cNvSpPr>
            <a:spLocks noGrp="1"/>
          </p:cNvSpPr>
          <p:nvPr>
            <p:ph type="sldNum" idx="44"/>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536F71D2-1BA3-46A7-BFD6-0AC7B6DF4F57}"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1144440" y="1243080"/>
            <a:ext cx="4471560" cy="3355560"/>
          </a:xfrm>
          <a:prstGeom prst="rect">
            <a:avLst/>
          </a:prstGeom>
          <a:ln w="0">
            <a:noFill/>
          </a:ln>
        </p:spPr>
      </p:sp>
      <p:sp>
        <p:nvSpPr>
          <p:cNvPr id="175"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76" name="PlaceHolder 3"/>
          <p:cNvSpPr>
            <a:spLocks noGrp="1"/>
          </p:cNvSpPr>
          <p:nvPr>
            <p:ph type="sldNum" idx="45"/>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F4B3E267-F269-487D-AAC7-9B6865E2C34B}"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1144440" y="1243080"/>
            <a:ext cx="4471560" cy="3355560"/>
          </a:xfrm>
          <a:prstGeom prst="rect">
            <a:avLst/>
          </a:prstGeom>
          <a:ln w="0">
            <a:noFill/>
          </a:ln>
        </p:spPr>
      </p:sp>
      <p:sp>
        <p:nvSpPr>
          <p:cNvPr id="178"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79" name="PlaceHolder 3"/>
          <p:cNvSpPr>
            <a:spLocks noGrp="1"/>
          </p:cNvSpPr>
          <p:nvPr>
            <p:ph type="sldNum" idx="46"/>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0D0A7AD7-0B90-42E6-AC7E-F14F0250675D}"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44440" y="1243080"/>
            <a:ext cx="4471560" cy="3355560"/>
          </a:xfrm>
          <a:prstGeom prst="rect">
            <a:avLst/>
          </a:prstGeom>
          <a:ln w="0">
            <a:noFill/>
          </a:ln>
        </p:spPr>
      </p:sp>
      <p:sp>
        <p:nvSpPr>
          <p:cNvPr id="181"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82" name="PlaceHolder 3"/>
          <p:cNvSpPr>
            <a:spLocks noGrp="1"/>
          </p:cNvSpPr>
          <p:nvPr>
            <p:ph type="sldNum" idx="47"/>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FD691D30-D3F6-42C2-B271-A753473E74D2}"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1144440" y="1243080"/>
            <a:ext cx="4471560" cy="3355560"/>
          </a:xfrm>
          <a:prstGeom prst="rect">
            <a:avLst/>
          </a:prstGeom>
          <a:ln w="0">
            <a:noFill/>
          </a:ln>
        </p:spPr>
      </p:sp>
      <p:sp>
        <p:nvSpPr>
          <p:cNvPr id="184" name="PlaceHolder 2"/>
          <p:cNvSpPr>
            <a:spLocks noGrp="1"/>
          </p:cNvSpPr>
          <p:nvPr>
            <p:ph type="body"/>
          </p:nvPr>
        </p:nvSpPr>
        <p:spPr>
          <a:xfrm>
            <a:off x="676080" y="4784760"/>
            <a:ext cx="5408640" cy="3914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New Courses replaced with New Programmes</a:t>
            </a:r>
            <a:endParaRPr b="0" lang="en-IN" sz="2000" spc="-1" strike="noStrike">
              <a:solidFill>
                <a:srgbClr val="000000"/>
              </a:solidFill>
              <a:latin typeface="Arial"/>
            </a:endParaRPr>
          </a:p>
        </p:txBody>
      </p:sp>
      <p:sp>
        <p:nvSpPr>
          <p:cNvPr id="185" name="PlaceHolder 3"/>
          <p:cNvSpPr>
            <a:spLocks noGrp="1"/>
          </p:cNvSpPr>
          <p:nvPr>
            <p:ph type="sldNum" idx="48"/>
          </p:nvPr>
        </p:nvSpPr>
        <p:spPr>
          <a:xfrm>
            <a:off x="3829680" y="9443520"/>
            <a:ext cx="2929320" cy="498600"/>
          </a:xfrm>
          <a:prstGeom prst="rect">
            <a:avLst/>
          </a:prstGeom>
          <a:noFill/>
          <a:ln w="0">
            <a:noFill/>
          </a:ln>
        </p:spPr>
        <p:txBody>
          <a:bodyPr lIns="91440" rIns="91440" tIns="45720" bIns="45720" anchor="b">
            <a:noAutofit/>
          </a:bodyPr>
          <a:lstStyle>
            <a:lvl1pPr indent="0" algn="r">
              <a:lnSpc>
                <a:spcPct val="100000"/>
              </a:lnSpc>
              <a:buNone/>
              <a:defRPr b="0" lang="en-IN" sz="1200" spc="-1" strike="noStrike">
                <a:solidFill>
                  <a:srgbClr val="000000"/>
                </a:solidFill>
                <a:latin typeface="Times New Roman"/>
              </a:defRPr>
            </a:lvl1pPr>
          </a:lstStyle>
          <a:p>
            <a:pPr indent="0" algn="r">
              <a:lnSpc>
                <a:spcPct val="100000"/>
              </a:lnSpc>
              <a:buNone/>
            </a:pPr>
            <a:fld id="{3849E707-EBD1-4A35-AFAC-0273CDF929C2}" type="slidenum">
              <a:rPr b="0" lang="en-IN"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BC70680-2CD7-4FFC-A33E-AD2AD06054A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CE2BE48-50D3-4A28-A76B-8338A536B9B8}"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FE5758F-F3A8-428C-AB8B-8ED54802FCDC}"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5DFA140-B001-43A1-A326-C5214005C6C1}" type="slidenum">
              <a:t>&lt;#&gt;</a:t>
            </a:fld>
          </a:p>
        </p:txBody>
      </p:sp>
      <p:sp>
        <p:nvSpPr>
          <p:cNvPr id="6" name="PlaceHolder 5"/>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9A66D6C5-BAF8-4089-BB56-59936A148F1F}"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E0F23347-E97B-4031-B220-B25A27483A19}" type="slidenum">
              <a:t>&lt;#&gt;</a:t>
            </a:fld>
          </a:p>
        </p:txBody>
      </p:sp>
      <p:sp>
        <p:nvSpPr>
          <p:cNvPr id="7" name="PlaceHolder 6"/>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E5EE88FF-4684-4920-A69B-4DF4AE630E3A}" type="slidenum">
              <a:t>&lt;#&gt;</a:t>
            </a:fld>
          </a:p>
        </p:txBody>
      </p:sp>
      <p:sp>
        <p:nvSpPr>
          <p:cNvPr id="4" name="PlaceHolder 3"/>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C2F5F397-7EDE-494B-8332-7FBE4B49E41F}" type="slidenum">
              <a:t>&lt;#&gt;</a:t>
            </a:fld>
          </a:p>
        </p:txBody>
      </p:sp>
      <p:sp>
        <p:nvSpPr>
          <p:cNvPr id="5" name="PlaceHolder 4"/>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F63C4E97-F6F8-49D5-B6D9-A15968D939DA}" type="slidenum">
              <a:t>&lt;#&gt;</a:t>
            </a:fld>
          </a:p>
        </p:txBody>
      </p:sp>
      <p:sp>
        <p:nvSpPr>
          <p:cNvPr id="4" name="PlaceHolder 3"/>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8DF82A48-85CB-4181-A896-91AEF08D15D2}" type="slidenum">
              <a:t>&lt;#&gt;</a:t>
            </a:fld>
          </a:p>
        </p:txBody>
      </p:sp>
      <p:sp>
        <p:nvSpPr>
          <p:cNvPr id="4" name="PlaceHolder 3"/>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DFF12CE-8CE6-4E68-B4BD-746AC505CC42}" type="slidenum">
              <a:t>&lt;#&gt;</a:t>
            </a:fld>
          </a:p>
        </p:txBody>
      </p:sp>
      <p:sp>
        <p:nvSpPr>
          <p:cNvPr id="4" name="PlaceHolder 3"/>
          <p:cNvSpPr>
            <a:spLocks noGrp="1"/>
          </p:cNvSpPr>
          <p:nvPr>
            <p:ph type="dt" idx="3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996EEFB8-22D0-4DA1-941D-E331D983DA77}"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a:t>
            </a:r>
            <a:r>
              <a:rPr b="0" lang="en-US" sz="4400" spc="-1" strike="noStrike">
                <a:solidFill>
                  <a:schemeClr val="dk1"/>
                </a:solidFill>
                <a:latin typeface="Calibri"/>
              </a:rPr>
              <a:t>edit </a:t>
            </a:r>
            <a:r>
              <a:rPr b="0" lang="en-US" sz="4400" spc="-1" strike="noStrike">
                <a:solidFill>
                  <a:schemeClr val="dk1"/>
                </a:solidFill>
                <a:latin typeface="Calibri"/>
              </a:rPr>
              <a:t>Master </a:t>
            </a:r>
            <a:r>
              <a:rPr b="0" lang="en-US" sz="4400" spc="-1" strike="noStrike">
                <a:solidFill>
                  <a:schemeClr val="dk1"/>
                </a:solidFill>
                <a:latin typeface="Calibri"/>
              </a:rPr>
              <a:t>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00621469-6430-472C-90E5-789263E54B5F}"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li</a:t>
            </a:r>
            <a:r>
              <a:rPr b="0" lang="en-US" sz="4400" spc="-1" strike="noStrike">
                <a:solidFill>
                  <a:schemeClr val="dk1"/>
                </a:solidFill>
                <a:latin typeface="Calibri"/>
              </a:rPr>
              <a:t>c</a:t>
            </a:r>
            <a:r>
              <a:rPr b="0" lang="en-US" sz="4400" spc="-1" strike="noStrike">
                <a:solidFill>
                  <a:schemeClr val="dk1"/>
                </a:solidFill>
                <a:latin typeface="Calibri"/>
              </a:rPr>
              <a:t>k </a:t>
            </a:r>
            <a:r>
              <a:rPr b="0" lang="en-US" sz="4400" spc="-1" strike="noStrike">
                <a:solidFill>
                  <a:schemeClr val="dk1"/>
                </a:solidFill>
                <a:latin typeface="Calibri"/>
              </a:rPr>
              <a:t>t</a:t>
            </a:r>
            <a:r>
              <a:rPr b="0" lang="en-US" sz="4400" spc="-1" strike="noStrike">
                <a:solidFill>
                  <a:schemeClr val="dk1"/>
                </a:solidFill>
                <a:latin typeface="Calibri"/>
              </a:rPr>
              <a:t>o</a:t>
            </a:r>
            <a:r>
              <a:rPr b="0" lang="en-US" sz="4400" spc="-1" strike="noStrike">
                <a:solidFill>
                  <a:schemeClr val="dk1"/>
                </a:solidFill>
                <a:latin typeface="Calibri"/>
              </a:rPr>
              <a:t>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a:t>
            </a:r>
            <a:r>
              <a:rPr b="0" lang="en-US" sz="4400" spc="-1" strike="noStrike">
                <a:solidFill>
                  <a:schemeClr val="dk1"/>
                </a:solidFill>
                <a:latin typeface="Calibri"/>
              </a:rPr>
              <a:t>i</a:t>
            </a:r>
            <a:r>
              <a:rPr b="0" lang="en-US" sz="4400" spc="-1" strike="noStrike">
                <a:solidFill>
                  <a:schemeClr val="dk1"/>
                </a:solidFill>
                <a:latin typeface="Calibri"/>
              </a:rPr>
              <a:t>t</a:t>
            </a:r>
            <a:r>
              <a:rPr b="0" lang="en-US" sz="4400" spc="-1" strike="noStrike">
                <a:solidFill>
                  <a:schemeClr val="dk1"/>
                </a:solidFill>
                <a:latin typeface="Calibri"/>
              </a:rPr>
              <a:t>l</a:t>
            </a:r>
            <a:r>
              <a:rPr b="0" lang="en-US" sz="4400" spc="-1" strike="noStrike">
                <a:solidFill>
                  <a:schemeClr val="dk1"/>
                </a:solidFill>
                <a:latin typeface="Calibri"/>
              </a:rPr>
              <a:t>e</a:t>
            </a:r>
            <a:r>
              <a:rPr b="0" lang="en-US" sz="4400" spc="-1" strike="noStrike">
                <a:solidFill>
                  <a:schemeClr val="dk1"/>
                </a:solidFill>
                <a:latin typeface="Calibri"/>
              </a:rPr>
              <a:t>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8900DD29-301A-4933-9660-38D1A4B49CFC}"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EA72954A-4015-446C-AB48-CE9CD1A7CD79}"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CE2E4E3C-24DE-494C-BABF-750A69F0E2AA}"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155F0A41-F98E-48A2-8101-E6E2A62361BC}"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70F8C750-65C8-4FD4-A2F8-6CE08CC80C8E}"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ED1656EE-9639-49D8-98BA-1A823351E4E5}"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83B85E3B-14D0-4243-880C-24A86F0E8353}"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5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9F557201-798D-43EC-A13D-0ABD2318BD2B}"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pc="-1" strike="noStrike">
                <a:solidFill>
                  <a:schemeClr val="dk1">
                    <a:tint val="75000"/>
                  </a:schemeClr>
                </a:solidFill>
                <a:latin typeface="Calibri"/>
              </a:defRPr>
            </a:lvl1pPr>
          </a:lstStyle>
          <a:p>
            <a:pPr indent="0" defTabSz="914400">
              <a:lnSpc>
                <a:spcPct val="100000"/>
              </a:lnSpc>
              <a:buNone/>
            </a:pPr>
            <a:r>
              <a:rPr b="0" lang="en-IN"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pc="-1" strike="noStrike">
                <a:solidFill>
                  <a:schemeClr val="dk1">
                    <a:tint val="75000"/>
                  </a:schemeClr>
                </a:solidFill>
                <a:latin typeface="Calibri"/>
              </a:defRPr>
            </a:lvl1pPr>
          </a:lstStyle>
          <a:p>
            <a:pPr indent="0" algn="r" defTabSz="914400">
              <a:lnSpc>
                <a:spcPct val="100000"/>
              </a:lnSpc>
              <a:buNone/>
            </a:pPr>
            <a:fld id="{BCD5BBF3-54AD-4AE8-875B-D602A2D9FA45}" type="slidenum">
              <a:rPr b="0" lang="en-IN"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Picture 3" descr="PPT Admission Drive 2021-22-final-2_Page_01.jpg"/>
          <p:cNvPicPr/>
          <p:nvPr/>
        </p:nvPicPr>
        <p:blipFill>
          <a:blip r:embed="rId1"/>
          <a:stretch/>
        </p:blipFill>
        <p:spPr>
          <a:xfrm>
            <a:off x="0" y="0"/>
            <a:ext cx="9143640" cy="6850080"/>
          </a:xfrm>
          <a:prstGeom prst="rect">
            <a:avLst/>
          </a:prstGeom>
          <a:ln w="0">
            <a:noFill/>
          </a:ln>
        </p:spPr>
      </p:pic>
    </p:spTree>
  </p:cSld>
  <p:transition>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Content Placeholder 3" descr=""/>
          <p:cNvPicPr/>
          <p:nvPr/>
        </p:nvPicPr>
        <p:blipFill>
          <a:blip r:embed="rId1"/>
          <a:stretch/>
        </p:blipFill>
        <p:spPr>
          <a:xfrm>
            <a:off x="-54360" y="-27360"/>
            <a:ext cx="9180000" cy="6885000"/>
          </a:xfrm>
          <a:prstGeom prst="rect">
            <a:avLst/>
          </a:prstGeom>
          <a:ln w="0">
            <a:noFill/>
          </a:ln>
        </p:spPr>
      </p:pic>
      <p:cxnSp>
        <p:nvCxnSpPr>
          <p:cNvPr id="75" name="Straight Connector 10"/>
          <p:cNvCxnSpPr/>
          <p:nvPr/>
        </p:nvCxnSpPr>
        <p:spPr>
          <a:xfrm>
            <a:off x="1564920" y="2204640"/>
            <a:ext cx="6306840" cy="360"/>
          </a:xfrm>
          <a:prstGeom prst="straightConnector1">
            <a:avLst/>
          </a:prstGeom>
          <a:ln>
            <a:solidFill>
              <a:srgbClr val="4a7ebb"/>
            </a:solidFill>
            <a:round/>
          </a:ln>
        </p:spPr>
      </p:cxnSp>
      <p:pic>
        <p:nvPicPr>
          <p:cNvPr id="76" name="Picture 11" descr=""/>
          <p:cNvPicPr/>
          <p:nvPr/>
        </p:nvPicPr>
        <p:blipFill>
          <a:blip r:embed="rId2"/>
          <a:stretch/>
        </p:blipFill>
        <p:spPr>
          <a:xfrm>
            <a:off x="1370520" y="150120"/>
            <a:ext cx="6395760" cy="920520"/>
          </a:xfrm>
          <a:prstGeom prst="rect">
            <a:avLst/>
          </a:prstGeom>
          <a:ln w="0">
            <a:noFill/>
          </a:ln>
        </p:spPr>
      </p:pic>
      <p:sp>
        <p:nvSpPr>
          <p:cNvPr id="77" name="TextBox 12"/>
          <p:cNvSpPr/>
          <p:nvPr/>
        </p:nvSpPr>
        <p:spPr>
          <a:xfrm>
            <a:off x="222120" y="2367720"/>
            <a:ext cx="8784720" cy="7606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IN" sz="2200" spc="-1" strike="noStrike">
                <a:solidFill>
                  <a:srgbClr val="0070c0"/>
                </a:solidFill>
                <a:latin typeface="Calibri"/>
                <a:ea typeface="Cambria"/>
              </a:rPr>
              <a:t>First Year</a:t>
            </a:r>
            <a:endParaRPr b="0" lang="en-IN" sz="2200" spc="-1" strike="noStrike">
              <a:solidFill>
                <a:srgbClr val="000000"/>
              </a:solidFill>
              <a:latin typeface="Arial"/>
            </a:endParaRPr>
          </a:p>
          <a:p>
            <a:pPr algn="ctr" defTabSz="914400">
              <a:lnSpc>
                <a:spcPct val="100000"/>
              </a:lnSpc>
            </a:pPr>
            <a:r>
              <a:rPr b="1" lang="en-IN" sz="2200" spc="-1" strike="noStrike">
                <a:solidFill>
                  <a:srgbClr val="0070c0"/>
                </a:solidFill>
                <a:latin typeface="Calibri"/>
                <a:ea typeface="Cambria"/>
              </a:rPr>
              <a:t>Submitted by</a:t>
            </a:r>
            <a:endParaRPr b="0" lang="en-IN" sz="2200" spc="-1" strike="noStrike">
              <a:solidFill>
                <a:srgbClr val="000000"/>
              </a:solidFill>
              <a:latin typeface="Arial"/>
            </a:endParaRPr>
          </a:p>
        </p:txBody>
      </p:sp>
      <p:graphicFrame>
        <p:nvGraphicFramePr>
          <p:cNvPr id="78" name="Table 2"/>
          <p:cNvGraphicFramePr/>
          <p:nvPr/>
        </p:nvGraphicFramePr>
        <p:xfrm>
          <a:off x="1652760" y="3191040"/>
          <a:ext cx="6095160" cy="1811880"/>
        </p:xfrm>
        <a:graphic>
          <a:graphicData uri="http://schemas.openxmlformats.org/drawingml/2006/table">
            <a:tbl>
              <a:tblPr/>
              <a:tblGrid>
                <a:gridCol w="3047760"/>
                <a:gridCol w="3047760"/>
              </a:tblGrid>
              <a:tr h="402840">
                <a:tc>
                  <a:txBody>
                    <a:bodyPr anchor="t">
                      <a:noAutofit/>
                    </a:bodyPr>
                    <a:p>
                      <a:pPr algn="ctr" defTabSz="914400">
                        <a:lnSpc>
                          <a:spcPct val="100000"/>
                        </a:lnSpc>
                      </a:pPr>
                      <a:r>
                        <a:rPr b="1" lang="en-US" sz="1800" spc="-1" strike="noStrike">
                          <a:solidFill>
                            <a:schemeClr val="lt1"/>
                          </a:solidFill>
                          <a:latin typeface="Calibri"/>
                        </a:rPr>
                        <a:t>ROLL</a:t>
                      </a:r>
                      <a:endParaRPr b="0" lang="en-IN" sz="1800" spc="-1" strike="noStrike">
                        <a:solidFill>
                          <a:srgbClr val="ffffff"/>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00000"/>
                        </a:lnSpc>
                      </a:pPr>
                      <a:r>
                        <a:rPr b="1" lang="en-US" sz="1800" spc="-1" strike="noStrike">
                          <a:solidFill>
                            <a:schemeClr val="lt1"/>
                          </a:solidFill>
                          <a:latin typeface="Calibri"/>
                        </a:rPr>
                        <a:t>NAME</a:t>
                      </a:r>
                      <a:endParaRPr b="0" lang="en-IN" sz="1800" spc="-1" strike="noStrike">
                        <a:solidFill>
                          <a:srgbClr val="ffffff"/>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402840">
                <a:tc>
                  <a:txBody>
                    <a:bodyPr anchor="t">
                      <a:noAutofit/>
                    </a:bodyPr>
                    <a:p>
                      <a:pPr>
                        <a:lnSpc>
                          <a:spcPct val="100000"/>
                        </a:lnSpc>
                      </a:pPr>
                      <a:r>
                        <a:rPr b="0" lang="en-US" sz="1800" spc="-1" strike="noStrike">
                          <a:solidFill>
                            <a:schemeClr val="dk1"/>
                          </a:solidFill>
                          <a:latin typeface="Calibri"/>
                        </a:rPr>
                        <a:t>2501060043</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nSpc>
                          <a:spcPct val="100000"/>
                        </a:lnSpc>
                      </a:pPr>
                      <a:r>
                        <a:rPr b="0" lang="en-US" sz="1800" spc="-1" strike="noStrike">
                          <a:solidFill>
                            <a:schemeClr val="dk1"/>
                          </a:solidFill>
                          <a:latin typeface="Calibri"/>
                        </a:rPr>
                        <a:t>Raghav Gupta</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02840">
                <a:tc>
                  <a:txBody>
                    <a:bodyPr anchor="t">
                      <a:noAutofit/>
                    </a:bodyPr>
                    <a:p>
                      <a:pPr>
                        <a:lnSpc>
                          <a:spcPct val="100000"/>
                        </a:lnSpc>
                        <a:spcBef>
                          <a:spcPts val="1191"/>
                        </a:spcBef>
                        <a:spcAft>
                          <a:spcPts val="992"/>
                        </a:spcAft>
                      </a:pPr>
                      <a:r>
                        <a:rPr b="0" lang="en-US" sz="1800" spc="-1" strike="noStrike">
                          <a:solidFill>
                            <a:schemeClr val="dk1"/>
                          </a:solidFill>
                          <a:latin typeface="Calibri"/>
                        </a:rPr>
                        <a:t>2501060152</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nSpc>
                          <a:spcPct val="100000"/>
                        </a:lnSpc>
                        <a:spcBef>
                          <a:spcPts val="1191"/>
                        </a:spcBef>
                        <a:spcAft>
                          <a:spcPts val="992"/>
                        </a:spcAft>
                      </a:pPr>
                      <a:r>
                        <a:rPr b="0" lang="en-US" sz="1800" spc="-1" strike="noStrike">
                          <a:solidFill>
                            <a:schemeClr val="dk1"/>
                          </a:solidFill>
                          <a:latin typeface="Calibri"/>
                        </a:rPr>
                        <a:t>Aarohi Kalsi</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02840">
                <a:tc>
                  <a:txBody>
                    <a:bodyPr anchor="t">
                      <a:noAutofit/>
                    </a:bodyPr>
                    <a:p>
                      <a:pPr>
                        <a:lnSpc>
                          <a:spcPct val="100000"/>
                        </a:lnSpc>
                      </a:pPr>
                      <a:r>
                        <a:rPr b="0" lang="en-US" sz="1800" spc="-1" strike="noStrike">
                          <a:solidFill>
                            <a:schemeClr val="dk1"/>
                          </a:solidFill>
                          <a:latin typeface="Calibri"/>
                        </a:rPr>
                        <a:t>2501060061</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nSpc>
                          <a:spcPct val="100000"/>
                        </a:lnSpc>
                      </a:pPr>
                      <a:r>
                        <a:rPr b="0" lang="en-US" sz="1800" spc="-1" strike="noStrike">
                          <a:solidFill>
                            <a:schemeClr val="dk1"/>
                          </a:solidFill>
                          <a:latin typeface="Calibri"/>
                        </a:rPr>
                        <a:t>Prakriti Yadav</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02840">
                <a:tc>
                  <a:txBody>
                    <a:bodyPr anchor="t">
                      <a:noAutofit/>
                    </a:bodyPr>
                    <a:p>
                      <a:pPr>
                        <a:lnSpc>
                          <a:spcPct val="100000"/>
                        </a:lnSpc>
                        <a:spcBef>
                          <a:spcPts val="1191"/>
                        </a:spcBef>
                        <a:spcAft>
                          <a:spcPts val="992"/>
                        </a:spcAft>
                      </a:pPr>
                      <a:r>
                        <a:rPr b="0" lang="en-US" sz="1800" spc="-1" strike="noStrike">
                          <a:solidFill>
                            <a:schemeClr val="dk1"/>
                          </a:solidFill>
                          <a:latin typeface="Calibri"/>
                        </a:rPr>
                        <a:t>2501060066</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nSpc>
                          <a:spcPct val="100000"/>
                        </a:lnSpc>
                      </a:pPr>
                      <a:r>
                        <a:rPr b="0" lang="en-US" sz="1800" spc="-1" strike="noStrike">
                          <a:solidFill>
                            <a:schemeClr val="dk1"/>
                          </a:solidFill>
                          <a:latin typeface="Calibri"/>
                        </a:rPr>
                        <a:t>Dev Sehgal</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02840">
                <a:tc>
                  <a:txBody>
                    <a:bodyPr anchor="t">
                      <a:noAutofit/>
                    </a:bodyPr>
                    <a:p>
                      <a:pPr>
                        <a:lnSpc>
                          <a:spcPct val="100000"/>
                        </a:lnSpc>
                      </a:pPr>
                      <a:r>
                        <a:rPr b="0" lang="en-IN" sz="1800" spc="-1" strike="noStrike">
                          <a:solidFill>
                            <a:srgbClr val="000000"/>
                          </a:solidFill>
                          <a:latin typeface="Arial"/>
                        </a:rPr>
                        <a:t>2501060071</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nSpc>
                          <a:spcPct val="100000"/>
                        </a:lnSpc>
                      </a:pPr>
                      <a:r>
                        <a:rPr b="0" lang="en-US" sz="1800" spc="-1" strike="noStrike">
                          <a:solidFill>
                            <a:schemeClr val="dk1"/>
                          </a:solidFill>
                          <a:latin typeface="Calibri"/>
                        </a:rPr>
                        <a:t>Kanishk Grover</a:t>
                      </a:r>
                      <a:endParaRPr b="0" lang="en-IN" sz="1800" spc="-1" strike="noStrike">
                        <a:solidFill>
                          <a:srgbClr val="000000"/>
                        </a:solidFill>
                        <a:latin typeface="Times New Roman"/>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79" name="TextBox 4"/>
          <p:cNvSpPr/>
          <p:nvPr/>
        </p:nvSpPr>
        <p:spPr>
          <a:xfrm>
            <a:off x="1414440" y="1372680"/>
            <a:ext cx="6607800" cy="486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IN" sz="2600" spc="-1" strike="noStrike">
                <a:solidFill>
                  <a:srgbClr val="c00000"/>
                </a:solidFill>
                <a:latin typeface="Calibri"/>
                <a:ea typeface="Cambria"/>
              </a:rPr>
              <a:t>Analysis of Biological Health Datasets</a:t>
            </a:r>
            <a:endParaRPr b="0" lang="en-IN" sz="2600" spc="-1" strike="noStrike">
              <a:solidFill>
                <a:srgbClr val="000000"/>
              </a:solidFill>
              <a:latin typeface="Arial"/>
            </a:endParaRPr>
          </a:p>
        </p:txBody>
      </p:sp>
      <p:sp>
        <p:nvSpPr>
          <p:cNvPr id="80" name="TextBox 7"/>
          <p:cNvSpPr/>
          <p:nvPr/>
        </p:nvSpPr>
        <p:spPr>
          <a:xfrm>
            <a:off x="236520" y="5733360"/>
            <a:ext cx="858384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800" spc="-1" strike="noStrike">
                <a:solidFill>
                  <a:srgbClr val="0070c0"/>
                </a:solidFill>
                <a:latin typeface="Calibri"/>
                <a:ea typeface="Cambria"/>
              </a:rPr>
              <a:t>Faculty Mentor: Mr.  Digvijay Singh</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Content Placeholder 3" descr=""/>
          <p:cNvPicPr/>
          <p:nvPr/>
        </p:nvPicPr>
        <p:blipFill>
          <a:blip r:embed="rId1"/>
          <a:stretch/>
        </p:blipFill>
        <p:spPr>
          <a:xfrm>
            <a:off x="0" y="0"/>
            <a:ext cx="9180000" cy="6885000"/>
          </a:xfrm>
          <a:prstGeom prst="rect">
            <a:avLst/>
          </a:prstGeom>
          <a:ln w="0">
            <a:noFill/>
          </a:ln>
        </p:spPr>
      </p:pic>
      <p:sp>
        <p:nvSpPr>
          <p:cNvPr id="82" name="Rectangle 1"/>
          <p:cNvSpPr/>
          <p:nvPr/>
        </p:nvSpPr>
        <p:spPr>
          <a:xfrm>
            <a:off x="435960" y="154440"/>
            <a:ext cx="3640320" cy="578520"/>
          </a:xfrm>
          <a:prstGeom prst="rect">
            <a:avLst/>
          </a:prstGeom>
          <a:noFill/>
          <a:ln w="0">
            <a:noFill/>
          </a:ln>
        </p:spPr>
        <p:style>
          <a:lnRef idx="0"/>
          <a:fillRef idx="0"/>
          <a:effectRef idx="0"/>
          <a:fontRef idx="minor"/>
        </p:style>
        <p:txBody>
          <a:bodyPr numCol="1" spcCol="0" wrap="none" anchor="ctr">
            <a:spAutoFit/>
          </a:bodyPr>
          <a:p>
            <a:pPr defTabSz="914400">
              <a:lnSpc>
                <a:spcPct val="100000"/>
              </a:lnSpc>
            </a:pPr>
            <a:r>
              <a:rPr b="1" lang="en-US" sz="3200" spc="-1" strike="noStrike">
                <a:solidFill>
                  <a:schemeClr val="dk1"/>
                </a:solidFill>
                <a:latin typeface="Verdana"/>
                <a:ea typeface="Times New Roman"/>
              </a:rPr>
              <a:t>Project Overview</a:t>
            </a:r>
            <a:endParaRPr b="0" lang="en-IN" sz="3200" spc="-1" strike="noStrike">
              <a:solidFill>
                <a:srgbClr val="000000"/>
              </a:solidFill>
              <a:latin typeface="Arial"/>
            </a:endParaRPr>
          </a:p>
        </p:txBody>
      </p:sp>
      <p:cxnSp>
        <p:nvCxnSpPr>
          <p:cNvPr id="83" name="Straight Connector 6"/>
          <p:cNvCxnSpPr/>
          <p:nvPr/>
        </p:nvCxnSpPr>
        <p:spPr>
          <a:xfrm>
            <a:off x="0" y="1061280"/>
            <a:ext cx="9180720" cy="360"/>
          </a:xfrm>
          <a:prstGeom prst="straightConnector1">
            <a:avLst/>
          </a:prstGeom>
          <a:ln w="25400">
            <a:solidFill>
              <a:srgbClr val="0060aa"/>
            </a:solidFill>
            <a:round/>
          </a:ln>
        </p:spPr>
      </p:cxnSp>
      <p:pic>
        <p:nvPicPr>
          <p:cNvPr id="84" name="Picture 8" descr=""/>
          <p:cNvPicPr/>
          <p:nvPr/>
        </p:nvPicPr>
        <p:blipFill>
          <a:blip r:embed="rId2"/>
          <a:stretch/>
        </p:blipFill>
        <p:spPr>
          <a:xfrm>
            <a:off x="72000" y="6309360"/>
            <a:ext cx="2411280" cy="346320"/>
          </a:xfrm>
          <a:prstGeom prst="rect">
            <a:avLst/>
          </a:prstGeom>
          <a:ln w="0">
            <a:noFill/>
          </a:ln>
        </p:spPr>
      </p:pic>
      <p:sp>
        <p:nvSpPr>
          <p:cNvPr id="85" name=""/>
          <p:cNvSpPr txBox="1"/>
          <p:nvPr/>
        </p:nvSpPr>
        <p:spPr>
          <a:xfrm>
            <a:off x="360000" y="1260000"/>
            <a:ext cx="8460000" cy="4695480"/>
          </a:xfrm>
          <a:prstGeom prst="rect">
            <a:avLst/>
          </a:prstGeom>
          <a:noFill/>
          <a:ln w="0">
            <a:noFill/>
          </a:ln>
        </p:spPr>
        <p:txBody>
          <a:bodyPr lIns="90000" rIns="90000" tIns="45000" bIns="45000" anchor="t">
            <a:noAutofit/>
          </a:bodyPr>
          <a:p>
            <a:pPr>
              <a:lnSpc>
                <a:spcPct val="150000"/>
              </a:lnSpc>
            </a:pPr>
            <a:r>
              <a:rPr b="0" lang="en-IN" sz="1800" spc="-1" strike="noStrike">
                <a:solidFill>
                  <a:srgbClr val="000000"/>
                </a:solidFill>
                <a:latin typeface="Arial"/>
              </a:rPr>
              <a:t>In the field of computer applications, data analysis plays an important role in extracting meaningful information from large datasets. Biological health datasets contain structured data related to diseases and population health, that can be effectively analyzed using computational tools. </a:t>
            </a:r>
            <a:endParaRPr b="0" lang="en-IN" sz="1800" spc="-1" strike="noStrike">
              <a:solidFill>
                <a:srgbClr val="000000"/>
              </a:solidFill>
              <a:latin typeface="Arial"/>
            </a:endParaRPr>
          </a:p>
          <a:p>
            <a:pPr>
              <a:lnSpc>
                <a:spcPct val="150000"/>
              </a:lnSpc>
            </a:pPr>
            <a:endParaRPr b="0" lang="en-IN" sz="1800" spc="-1" strike="noStrike">
              <a:solidFill>
                <a:srgbClr val="000000"/>
              </a:solidFill>
              <a:latin typeface="Arial"/>
            </a:endParaRPr>
          </a:p>
          <a:p>
            <a:pPr>
              <a:lnSpc>
                <a:spcPct val="150000"/>
              </a:lnSpc>
            </a:pPr>
            <a:r>
              <a:rPr b="0" lang="en-IN" sz="1800" spc="-1" strike="noStrike">
                <a:solidFill>
                  <a:srgbClr val="000000"/>
                </a:solidFill>
                <a:latin typeface="Arial"/>
              </a:rPr>
              <a:t>This project aims to apply basic computing and data analysis techniques to biological health datasets in order to identify disease-related patterns. The focus of the study is on handling, processing, and analyzing health data using programming and statistical methods. </a:t>
            </a:r>
            <a:endParaRPr b="0" lang="en-IN" sz="1800" spc="-1" strike="noStrike">
              <a:solidFill>
                <a:srgbClr val="000000"/>
              </a:solidFill>
              <a:latin typeface="Arial"/>
            </a:endParaRPr>
          </a:p>
          <a:p>
            <a:pPr>
              <a:lnSpc>
                <a:spcPct val="150000"/>
              </a:lnSpc>
            </a:pPr>
            <a:endParaRPr b="0" lang="en-IN" sz="1800" spc="-1" strike="noStrike">
              <a:solidFill>
                <a:srgbClr val="000000"/>
              </a:solidFill>
              <a:latin typeface="Arial"/>
            </a:endParaRPr>
          </a:p>
          <a:p>
            <a:pPr>
              <a:lnSpc>
                <a:spcPct val="150000"/>
              </a:lnSpc>
            </a:pPr>
            <a:r>
              <a:rPr b="0" lang="en-IN" sz="1800" spc="-1" strike="noStrike">
                <a:solidFill>
                  <a:srgbClr val="000000"/>
                </a:solidFill>
                <a:latin typeface="Arial"/>
              </a:rPr>
              <a:t>The project handles secondary biological health data and employs data cleaning, organization, visualization, and interpretation through computational approaches.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Content Placeholder 3" descr=""/>
          <p:cNvPicPr/>
          <p:nvPr/>
        </p:nvPicPr>
        <p:blipFill>
          <a:blip r:embed="rId1"/>
          <a:stretch/>
        </p:blipFill>
        <p:spPr>
          <a:xfrm>
            <a:off x="0" y="0"/>
            <a:ext cx="9180000" cy="6885000"/>
          </a:xfrm>
          <a:prstGeom prst="rect">
            <a:avLst/>
          </a:prstGeom>
          <a:ln w="0">
            <a:noFill/>
          </a:ln>
        </p:spPr>
      </p:pic>
      <p:sp>
        <p:nvSpPr>
          <p:cNvPr id="87" name="Rectangle 1"/>
          <p:cNvSpPr/>
          <p:nvPr/>
        </p:nvSpPr>
        <p:spPr>
          <a:xfrm>
            <a:off x="468360" y="154440"/>
            <a:ext cx="3965040" cy="578520"/>
          </a:xfrm>
          <a:prstGeom prst="rect">
            <a:avLst/>
          </a:prstGeom>
          <a:noFill/>
          <a:ln w="0">
            <a:noFill/>
          </a:ln>
        </p:spPr>
        <p:style>
          <a:lnRef idx="0"/>
          <a:fillRef idx="0"/>
          <a:effectRef idx="0"/>
          <a:fontRef idx="minor"/>
        </p:style>
        <p:txBody>
          <a:bodyPr numCol="1" spcCol="0" wrap="none" anchor="ctr">
            <a:spAutoFit/>
          </a:bodyPr>
          <a:p>
            <a:pPr defTabSz="914400">
              <a:lnSpc>
                <a:spcPct val="100000"/>
              </a:lnSpc>
            </a:pPr>
            <a:r>
              <a:rPr b="1" lang="en-US" sz="3200" spc="-1" strike="noStrike">
                <a:solidFill>
                  <a:schemeClr val="dk1"/>
                </a:solidFill>
                <a:latin typeface="Verdana"/>
                <a:ea typeface="Times New Roman"/>
              </a:rPr>
              <a:t>Specific Objectives</a:t>
            </a:r>
            <a:endParaRPr b="0" lang="en-IN" sz="3200" spc="-1" strike="noStrike">
              <a:solidFill>
                <a:srgbClr val="000000"/>
              </a:solidFill>
              <a:latin typeface="Arial"/>
            </a:endParaRPr>
          </a:p>
        </p:txBody>
      </p:sp>
      <p:cxnSp>
        <p:nvCxnSpPr>
          <p:cNvPr id="88" name="Straight Connector 6"/>
          <p:cNvCxnSpPr/>
          <p:nvPr/>
        </p:nvCxnSpPr>
        <p:spPr>
          <a:xfrm>
            <a:off x="0" y="1061280"/>
            <a:ext cx="9180720" cy="360"/>
          </a:xfrm>
          <a:prstGeom prst="straightConnector1">
            <a:avLst/>
          </a:prstGeom>
          <a:ln w="25400">
            <a:solidFill>
              <a:srgbClr val="0060aa"/>
            </a:solidFill>
            <a:round/>
          </a:ln>
        </p:spPr>
      </p:cxnSp>
      <p:pic>
        <p:nvPicPr>
          <p:cNvPr id="89" name="Picture 8" descr=""/>
          <p:cNvPicPr/>
          <p:nvPr/>
        </p:nvPicPr>
        <p:blipFill>
          <a:blip r:embed="rId2"/>
          <a:stretch/>
        </p:blipFill>
        <p:spPr>
          <a:xfrm>
            <a:off x="72000" y="6309360"/>
            <a:ext cx="2411280" cy="346320"/>
          </a:xfrm>
          <a:prstGeom prst="rect">
            <a:avLst/>
          </a:prstGeom>
          <a:ln w="0">
            <a:noFill/>
          </a:ln>
        </p:spPr>
      </p:pic>
      <p:sp>
        <p:nvSpPr>
          <p:cNvPr id="90"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91" name=""/>
          <p:cNvSpPr txBox="1"/>
          <p:nvPr/>
        </p:nvSpPr>
        <p:spPr>
          <a:xfrm>
            <a:off x="360000" y="1120680"/>
            <a:ext cx="8460000" cy="4279320"/>
          </a:xfrm>
          <a:prstGeom prst="rect">
            <a:avLst/>
          </a:prstGeom>
          <a:noFill/>
          <a:ln w="0">
            <a:noFill/>
          </a:ln>
        </p:spPr>
        <p:txBody>
          <a:bodyPr lIns="90000" rIns="90000" tIns="45000" bIns="45000" anchor="t">
            <a:noAutofit/>
          </a:bodyPr>
          <a:p>
            <a:pPr marL="216000" indent="-216000">
              <a:lnSpc>
                <a:spcPct val="200000"/>
              </a:lnSpc>
              <a:buClr>
                <a:srgbClr val="000000"/>
              </a:buClr>
              <a:buSzPct val="45000"/>
              <a:buFont typeface="Wingdings" charset="2"/>
              <a:buChar char=""/>
            </a:pPr>
            <a:r>
              <a:rPr b="0" lang="en-IN" sz="1600" spc="-1" strike="noStrike">
                <a:solidFill>
                  <a:srgbClr val="000000"/>
                </a:solidFill>
                <a:latin typeface="Arial"/>
              </a:rPr>
              <a:t>To apply programming and data analysis concepts to real-world biological datasets </a:t>
            </a:r>
            <a:endParaRPr b="0" lang="en-IN" sz="1600" spc="-1" strike="noStrike">
              <a:solidFill>
                <a:srgbClr val="000000"/>
              </a:solidFill>
              <a:latin typeface="Arial"/>
            </a:endParaRPr>
          </a:p>
          <a:p>
            <a:pPr marL="216000" indent="-216000">
              <a:lnSpc>
                <a:spcPct val="200000"/>
              </a:lnSpc>
              <a:buClr>
                <a:srgbClr val="000000"/>
              </a:buClr>
              <a:buSzPct val="45000"/>
              <a:buFont typeface="Wingdings" charset="2"/>
              <a:buChar char=""/>
            </a:pPr>
            <a:r>
              <a:rPr b="0" lang="en-IN" sz="1600" spc="-1" strike="noStrike">
                <a:solidFill>
                  <a:srgbClr val="000000"/>
                </a:solidFill>
                <a:latin typeface="Arial"/>
              </a:rPr>
              <a:t>To collect and manage biological health data using computational tools </a:t>
            </a:r>
            <a:endParaRPr b="0" lang="en-IN" sz="1600" spc="-1" strike="noStrike">
              <a:solidFill>
                <a:srgbClr val="000000"/>
              </a:solidFill>
              <a:latin typeface="Arial"/>
            </a:endParaRPr>
          </a:p>
          <a:p>
            <a:pPr marL="216000" indent="-216000">
              <a:lnSpc>
                <a:spcPct val="200000"/>
              </a:lnSpc>
              <a:buClr>
                <a:srgbClr val="000000"/>
              </a:buClr>
              <a:buSzPct val="45000"/>
              <a:buFont typeface="Wingdings" charset="2"/>
              <a:buChar char=""/>
            </a:pPr>
            <a:r>
              <a:rPr b="0" lang="en-IN" sz="1600" spc="-1" strike="noStrike">
                <a:solidFill>
                  <a:srgbClr val="000000"/>
                </a:solidFill>
                <a:latin typeface="Arial"/>
              </a:rPr>
              <a:t>To perform exploratory data analysis using statistical and visualization techniques </a:t>
            </a:r>
            <a:endParaRPr b="0" lang="en-IN" sz="1600" spc="-1" strike="noStrike">
              <a:solidFill>
                <a:srgbClr val="000000"/>
              </a:solidFill>
              <a:latin typeface="Arial"/>
            </a:endParaRPr>
          </a:p>
          <a:p>
            <a:pPr marL="216000" indent="-216000">
              <a:lnSpc>
                <a:spcPct val="200000"/>
              </a:lnSpc>
              <a:buClr>
                <a:srgbClr val="000000"/>
              </a:buClr>
              <a:buSzPct val="45000"/>
              <a:buFont typeface="Wingdings" charset="2"/>
              <a:buChar char=""/>
            </a:pPr>
            <a:r>
              <a:rPr b="0" lang="en-IN" sz="1600" spc="-1" strike="noStrike">
                <a:solidFill>
                  <a:srgbClr val="000000"/>
                </a:solidFill>
                <a:latin typeface="Arial"/>
              </a:rPr>
              <a:t>To identify disease-related patterns through data interpretation </a:t>
            </a:r>
            <a:endParaRPr b="0" lang="en-IN" sz="1600" spc="-1" strike="noStrike">
              <a:solidFill>
                <a:srgbClr val="000000"/>
              </a:solidFill>
              <a:latin typeface="Arial"/>
            </a:endParaRPr>
          </a:p>
          <a:p>
            <a:pPr marL="216000" indent="-216000">
              <a:lnSpc>
                <a:spcPct val="200000"/>
              </a:lnSpc>
              <a:buClr>
                <a:srgbClr val="000000"/>
              </a:buClr>
              <a:buSzPct val="45000"/>
              <a:buFont typeface="Wingdings" charset="2"/>
              <a:buChar char=""/>
            </a:pPr>
            <a:r>
              <a:rPr b="0" lang="en-IN" sz="1600" spc="-1" strike="noStrike">
                <a:solidFill>
                  <a:srgbClr val="000000"/>
                </a:solidFill>
                <a:latin typeface="Arial"/>
              </a:rPr>
              <a:t>To improve practical understanding of data handling and analysis using programming</a:t>
            </a: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Content Placeholder 3" descr=""/>
          <p:cNvPicPr/>
          <p:nvPr/>
        </p:nvPicPr>
        <p:blipFill>
          <a:blip r:embed="rId1"/>
          <a:stretch/>
        </p:blipFill>
        <p:spPr>
          <a:xfrm>
            <a:off x="0" y="0"/>
            <a:ext cx="9180000" cy="6885000"/>
          </a:xfrm>
          <a:prstGeom prst="rect">
            <a:avLst/>
          </a:prstGeom>
          <a:ln w="0">
            <a:noFill/>
          </a:ln>
        </p:spPr>
      </p:pic>
      <p:sp>
        <p:nvSpPr>
          <p:cNvPr id="93" name="Rectangle 1"/>
          <p:cNvSpPr/>
          <p:nvPr/>
        </p:nvSpPr>
        <p:spPr>
          <a:xfrm>
            <a:off x="179640" y="154440"/>
            <a:ext cx="4392000" cy="57852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3200" spc="-1" strike="noStrike">
                <a:solidFill>
                  <a:schemeClr val="dk1"/>
                </a:solidFill>
                <a:latin typeface="Verdana"/>
                <a:ea typeface="Times New Roman"/>
              </a:rPr>
              <a:t>Key Features</a:t>
            </a:r>
            <a:endParaRPr b="0" lang="en-IN" sz="3200" spc="-1" strike="noStrike">
              <a:solidFill>
                <a:srgbClr val="000000"/>
              </a:solidFill>
              <a:latin typeface="Arial"/>
            </a:endParaRPr>
          </a:p>
        </p:txBody>
      </p:sp>
      <p:cxnSp>
        <p:nvCxnSpPr>
          <p:cNvPr id="94" name="Straight Connector 6"/>
          <p:cNvCxnSpPr/>
          <p:nvPr/>
        </p:nvCxnSpPr>
        <p:spPr>
          <a:xfrm>
            <a:off x="0" y="1061280"/>
            <a:ext cx="9180720" cy="360"/>
          </a:xfrm>
          <a:prstGeom prst="straightConnector1">
            <a:avLst/>
          </a:prstGeom>
          <a:ln w="25400">
            <a:solidFill>
              <a:srgbClr val="0060aa"/>
            </a:solidFill>
            <a:round/>
          </a:ln>
        </p:spPr>
      </p:cxnSp>
      <p:pic>
        <p:nvPicPr>
          <p:cNvPr id="95" name="Picture 8" descr=""/>
          <p:cNvPicPr/>
          <p:nvPr/>
        </p:nvPicPr>
        <p:blipFill>
          <a:blip r:embed="rId2"/>
          <a:stretch/>
        </p:blipFill>
        <p:spPr>
          <a:xfrm>
            <a:off x="72000" y="6309360"/>
            <a:ext cx="2411280" cy="346320"/>
          </a:xfrm>
          <a:prstGeom prst="rect">
            <a:avLst/>
          </a:prstGeom>
          <a:ln w="0">
            <a:noFill/>
          </a:ln>
        </p:spPr>
      </p:pic>
      <p:sp>
        <p:nvSpPr>
          <p:cNvPr id="96"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97" name=""/>
          <p:cNvSpPr txBox="1"/>
          <p:nvPr/>
        </p:nvSpPr>
        <p:spPr>
          <a:xfrm>
            <a:off x="360000" y="1101600"/>
            <a:ext cx="8460000" cy="3927960"/>
          </a:xfrm>
          <a:prstGeom prst="rect">
            <a:avLst/>
          </a:prstGeom>
          <a:noFill/>
          <a:ln w="0">
            <a:noFill/>
          </a:ln>
        </p:spPr>
        <p:txBody>
          <a:bodyPr lIns="90000" rIns="90000" tIns="45000" bIns="45000" anchor="t">
            <a:noAutofit/>
          </a:bodyPr>
          <a:p>
            <a:pPr>
              <a:lnSpc>
                <a:spcPct val="150000"/>
              </a:lnSpc>
            </a:pPr>
            <a:r>
              <a:rPr b="0" lang="en-IN" sz="1800" spc="-1" strike="noStrike">
                <a:solidFill>
                  <a:srgbClr val="000000"/>
                </a:solidFill>
                <a:latin typeface="Arial"/>
              </a:rPr>
              <a:t>The project focuses on applying computational techniques to analyze biological health datasets through structured exploratory data analysis. It includes data preprocessing methods such as cleaning, normalization, and handling missing values to ensure reliable analysis.</a:t>
            </a:r>
            <a:endParaRPr b="0" lang="en-IN" sz="1800" spc="-1" strike="noStrike">
              <a:solidFill>
                <a:srgbClr val="000000"/>
              </a:solidFill>
              <a:latin typeface="Arial"/>
            </a:endParaRPr>
          </a:p>
          <a:p>
            <a:pPr>
              <a:lnSpc>
                <a:spcPct val="150000"/>
              </a:lnSpc>
            </a:pPr>
            <a:endParaRPr b="0" lang="en-IN" sz="1800" spc="-1" strike="noStrike">
              <a:solidFill>
                <a:srgbClr val="000000"/>
              </a:solidFill>
              <a:latin typeface="Arial"/>
            </a:endParaRPr>
          </a:p>
          <a:p>
            <a:pPr>
              <a:lnSpc>
                <a:spcPct val="150000"/>
              </a:lnSpc>
            </a:pPr>
            <a:r>
              <a:rPr b="0" lang="en-IN" sz="1800" spc="-1" strike="noStrike">
                <a:solidFill>
                  <a:srgbClr val="000000"/>
                </a:solidFill>
                <a:latin typeface="Arial"/>
              </a:rPr>
              <a:t>Statistical summaries and visualizations are generated to reveal disease-related trends and patterns. The system emphasizes data organization, aggregation, and interpretation using programming libraries. The project also promotes reproducibility and documentation of analytical workflows, allowing systematic evaluation of biological health information.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Content Placeholder 3" descr=""/>
          <p:cNvPicPr/>
          <p:nvPr/>
        </p:nvPicPr>
        <p:blipFill>
          <a:blip r:embed="rId1"/>
          <a:stretch/>
        </p:blipFill>
        <p:spPr>
          <a:xfrm>
            <a:off x="0" y="0"/>
            <a:ext cx="9180000" cy="6885000"/>
          </a:xfrm>
          <a:prstGeom prst="rect">
            <a:avLst/>
          </a:prstGeom>
          <a:ln w="0">
            <a:noFill/>
          </a:ln>
        </p:spPr>
      </p:pic>
      <p:sp>
        <p:nvSpPr>
          <p:cNvPr id="99" name="Rectangle 1"/>
          <p:cNvSpPr/>
          <p:nvPr/>
        </p:nvSpPr>
        <p:spPr>
          <a:xfrm>
            <a:off x="179640" y="247320"/>
            <a:ext cx="5688360" cy="57852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3200" spc="-1" strike="noStrike">
                <a:solidFill>
                  <a:schemeClr val="dk1"/>
                </a:solidFill>
                <a:latin typeface="Verdana"/>
              </a:rPr>
              <a:t>Progress Summary</a:t>
            </a:r>
            <a:endParaRPr b="0" lang="en-IN" sz="3200" spc="-1" strike="noStrike">
              <a:solidFill>
                <a:srgbClr val="000000"/>
              </a:solidFill>
              <a:latin typeface="Arial"/>
            </a:endParaRPr>
          </a:p>
        </p:txBody>
      </p:sp>
      <p:cxnSp>
        <p:nvCxnSpPr>
          <p:cNvPr id="100" name="Straight Connector 6"/>
          <p:cNvCxnSpPr/>
          <p:nvPr/>
        </p:nvCxnSpPr>
        <p:spPr>
          <a:xfrm>
            <a:off x="0" y="1061280"/>
            <a:ext cx="9180720" cy="360"/>
          </a:xfrm>
          <a:prstGeom prst="straightConnector1">
            <a:avLst/>
          </a:prstGeom>
          <a:ln w="25400">
            <a:solidFill>
              <a:srgbClr val="0060aa"/>
            </a:solidFill>
            <a:round/>
          </a:ln>
        </p:spPr>
      </p:cxnSp>
      <p:pic>
        <p:nvPicPr>
          <p:cNvPr id="101" name="Picture 8" descr=""/>
          <p:cNvPicPr/>
          <p:nvPr/>
        </p:nvPicPr>
        <p:blipFill>
          <a:blip r:embed="rId2"/>
          <a:stretch/>
        </p:blipFill>
        <p:spPr>
          <a:xfrm>
            <a:off x="72000" y="6309360"/>
            <a:ext cx="2411280" cy="346320"/>
          </a:xfrm>
          <a:prstGeom prst="rect">
            <a:avLst/>
          </a:prstGeom>
          <a:ln w="0">
            <a:noFill/>
          </a:ln>
        </p:spPr>
      </p:pic>
      <p:sp>
        <p:nvSpPr>
          <p:cNvPr id="102"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103" name=""/>
          <p:cNvSpPr txBox="1"/>
          <p:nvPr/>
        </p:nvSpPr>
        <p:spPr>
          <a:xfrm>
            <a:off x="209160" y="1293840"/>
            <a:ext cx="8571240" cy="3417840"/>
          </a:xfrm>
          <a:prstGeom prst="rect">
            <a:avLst/>
          </a:prstGeom>
          <a:noFill/>
          <a:ln w="0">
            <a:noFill/>
          </a:ln>
        </p:spPr>
        <p:txBody>
          <a:bodyPr lIns="90000" rIns="90000" tIns="45000" bIns="45000" anchor="t">
            <a:noAutofit/>
          </a:bodyPr>
          <a:p>
            <a:r>
              <a:rPr b="0" lang="en-IN" sz="1800" spc="-1" strike="noStrike">
                <a:solidFill>
                  <a:srgbClr val="000000"/>
                </a:solidFill>
                <a:latin typeface="Arial"/>
              </a:rPr>
              <a:t>This project focuses on the application of computational techniques to perform exploratory data analysis on biological health datasets. It aims to demonstrate how programming tools can be used to process, analyze, and interpret structured health data effectively.</a:t>
            </a:r>
            <a:endParaRPr b="0" lang="en-IN" sz="1800" spc="-1" strike="noStrike">
              <a:solidFill>
                <a:srgbClr val="000000"/>
              </a:solidFill>
              <a:latin typeface="Arial"/>
            </a:endParaRPr>
          </a:p>
          <a:p>
            <a:endParaRPr b="0" lang="en-IN" sz="1800" spc="-1" strike="noStrike">
              <a:solidFill>
                <a:srgbClr val="000000"/>
              </a:solidFill>
              <a:latin typeface="Arial"/>
            </a:endParaRPr>
          </a:p>
          <a:p>
            <a:r>
              <a:rPr b="0" lang="en-IN" sz="1800" spc="-1" strike="noStrike">
                <a:solidFill>
                  <a:srgbClr val="000000"/>
                </a:solidFill>
                <a:latin typeface="Arial"/>
              </a:rPr>
              <a:t>The study involves collecting secondary datasets, cleaning and organizing the data, and applying statistical and visualization methods to identify meaningful patterns related to diseases and population health. By integrating programming libraries and analytical approaches, the project highlights the practical role of computer applications in biological data analysis.</a:t>
            </a:r>
            <a:endParaRPr b="0" lang="en-IN" sz="1800" spc="-1" strike="noStrike">
              <a:solidFill>
                <a:srgbClr val="000000"/>
              </a:solidFill>
              <a:latin typeface="Arial"/>
            </a:endParaRPr>
          </a:p>
          <a:p>
            <a:endParaRPr b="0" lang="en-IN" sz="1800" spc="-1" strike="noStrike">
              <a:solidFill>
                <a:srgbClr val="000000"/>
              </a:solidFill>
              <a:latin typeface="Arial"/>
            </a:endParaRPr>
          </a:p>
          <a:p>
            <a:r>
              <a:rPr b="0" lang="en-IN" sz="1800" spc="-1" strike="noStrike">
                <a:solidFill>
                  <a:srgbClr val="000000"/>
                </a:solidFill>
                <a:latin typeface="Arial"/>
              </a:rPr>
              <a:t>The overall objective is to enhance understanding of data-driven decision-making through systematic analysis and interpretation of biological health information.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Content Placeholder 3" descr=""/>
          <p:cNvPicPr/>
          <p:nvPr/>
        </p:nvPicPr>
        <p:blipFill>
          <a:blip r:embed="rId1"/>
          <a:stretch/>
        </p:blipFill>
        <p:spPr>
          <a:xfrm>
            <a:off x="0" y="0"/>
            <a:ext cx="9180000" cy="6885000"/>
          </a:xfrm>
          <a:prstGeom prst="rect">
            <a:avLst/>
          </a:prstGeom>
          <a:ln w="0">
            <a:noFill/>
          </a:ln>
        </p:spPr>
      </p:pic>
      <p:sp>
        <p:nvSpPr>
          <p:cNvPr id="105" name="Rectangle 1"/>
          <p:cNvSpPr/>
          <p:nvPr/>
        </p:nvSpPr>
        <p:spPr>
          <a:xfrm>
            <a:off x="179640" y="379800"/>
            <a:ext cx="8964000" cy="51768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2800" spc="-1" strike="noStrike">
                <a:solidFill>
                  <a:schemeClr val="dk1"/>
                </a:solidFill>
                <a:latin typeface="Verdana"/>
              </a:rPr>
              <a:t>Detailed Progress – Development Phase</a:t>
            </a:r>
            <a:endParaRPr b="0" lang="en-IN" sz="2800" spc="-1" strike="noStrike">
              <a:solidFill>
                <a:srgbClr val="000000"/>
              </a:solidFill>
              <a:latin typeface="Arial"/>
            </a:endParaRPr>
          </a:p>
        </p:txBody>
      </p:sp>
      <p:cxnSp>
        <p:nvCxnSpPr>
          <p:cNvPr id="106" name="Straight Connector 6"/>
          <p:cNvCxnSpPr/>
          <p:nvPr/>
        </p:nvCxnSpPr>
        <p:spPr>
          <a:xfrm>
            <a:off x="0" y="1061280"/>
            <a:ext cx="9180720" cy="360"/>
          </a:xfrm>
          <a:prstGeom prst="straightConnector1">
            <a:avLst/>
          </a:prstGeom>
          <a:ln w="25400">
            <a:solidFill>
              <a:srgbClr val="0060aa"/>
            </a:solidFill>
            <a:round/>
          </a:ln>
        </p:spPr>
      </p:cxnSp>
      <p:pic>
        <p:nvPicPr>
          <p:cNvPr id="107" name="Picture 8" descr=""/>
          <p:cNvPicPr/>
          <p:nvPr/>
        </p:nvPicPr>
        <p:blipFill>
          <a:blip r:embed="rId2"/>
          <a:stretch/>
        </p:blipFill>
        <p:spPr>
          <a:xfrm>
            <a:off x="72000" y="6309360"/>
            <a:ext cx="2411280" cy="346320"/>
          </a:xfrm>
          <a:prstGeom prst="rect">
            <a:avLst/>
          </a:prstGeom>
          <a:ln w="0">
            <a:noFill/>
          </a:ln>
        </p:spPr>
      </p:pic>
      <p:sp>
        <p:nvSpPr>
          <p:cNvPr id="108" name=""/>
          <p:cNvSpPr txBox="1"/>
          <p:nvPr/>
        </p:nvSpPr>
        <p:spPr>
          <a:xfrm>
            <a:off x="180000" y="1178280"/>
            <a:ext cx="8640000" cy="5332680"/>
          </a:xfrm>
          <a:prstGeom prst="rect">
            <a:avLst/>
          </a:prstGeom>
          <a:noFill/>
          <a:ln w="0">
            <a:noFill/>
          </a:ln>
        </p:spPr>
        <p:txBody>
          <a:bodyPr lIns="90000" rIns="90000" tIns="45000" bIns="45000" anchor="t">
            <a:noAutofit/>
          </a:bodyPr>
          <a:p>
            <a:pPr>
              <a:lnSpc>
                <a:spcPct val="100000"/>
              </a:lnSpc>
              <a:spcBef>
                <a:spcPts val="1191"/>
              </a:spcBef>
              <a:spcAft>
                <a:spcPts val="992"/>
              </a:spcAft>
            </a:pPr>
            <a:r>
              <a:rPr b="0" lang="en-IN" sz="1600" spc="-1" strike="noStrike">
                <a:solidFill>
                  <a:srgbClr val="000000"/>
                </a:solidFill>
                <a:latin typeface="Arial"/>
              </a:rPr>
              <a:t>The development of the project is carried out in a structured and sequential manner to ensure clarity and accuracy in analysis:</a:t>
            </a:r>
            <a:endParaRPr b="0" lang="en-IN" sz="16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n-IN" sz="1600" spc="-1" strike="noStrike">
                <a:solidFill>
                  <a:srgbClr val="000000"/>
                </a:solidFill>
                <a:latin typeface="Arial"/>
              </a:rPr>
              <a:t>Phase 1 - Requirement Analysis:</a:t>
            </a:r>
            <a:r>
              <a:rPr b="0" lang="en-IN" sz="1600" spc="-1" strike="noStrike">
                <a:solidFill>
                  <a:srgbClr val="000000"/>
                </a:solidFill>
                <a:latin typeface="Arial"/>
              </a:rPr>
              <a:t> Understanding the project objectives, identifying suitable datasets, and defining the scope of analysis.</a:t>
            </a:r>
            <a:endParaRPr b="0" lang="en-IN" sz="16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n-IN" sz="1600" spc="-1" strike="noStrike">
                <a:solidFill>
                  <a:srgbClr val="000000"/>
                </a:solidFill>
                <a:latin typeface="Arial"/>
              </a:rPr>
              <a:t>Phase 2 - Data Collection:</a:t>
            </a:r>
            <a:r>
              <a:rPr b="0" lang="en-IN" sz="1600" spc="-1" strike="noStrike">
                <a:solidFill>
                  <a:srgbClr val="000000"/>
                </a:solidFill>
                <a:latin typeface="Arial"/>
              </a:rPr>
              <a:t> Gathering biological health datasets from reliable public sources and verifying their relevance.</a:t>
            </a:r>
            <a:endParaRPr b="0" lang="en-IN" sz="16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n-IN" sz="1600" spc="-1" strike="noStrike">
                <a:solidFill>
                  <a:srgbClr val="000000"/>
                </a:solidFill>
                <a:latin typeface="Arial"/>
              </a:rPr>
              <a:t>Phase 3 - Data Preprocessing:</a:t>
            </a:r>
            <a:r>
              <a:rPr b="0" lang="en-IN" sz="1600" spc="-1" strike="noStrike">
                <a:solidFill>
                  <a:srgbClr val="000000"/>
                </a:solidFill>
                <a:latin typeface="Arial"/>
              </a:rPr>
              <a:t> Cleaning the dataset by handling missing values, removing inconsistencies, and formatting data for analysis.</a:t>
            </a:r>
            <a:endParaRPr b="0" lang="en-IN" sz="16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n-IN" sz="1600" spc="-1" strike="noStrike">
                <a:solidFill>
                  <a:srgbClr val="000000"/>
                </a:solidFill>
                <a:latin typeface="Arial"/>
              </a:rPr>
              <a:t>Phase 4 - Data Analysis:</a:t>
            </a:r>
            <a:r>
              <a:rPr b="0" lang="en-IN" sz="1600" spc="-1" strike="noStrike">
                <a:solidFill>
                  <a:srgbClr val="000000"/>
                </a:solidFill>
                <a:latin typeface="Arial"/>
              </a:rPr>
              <a:t> Applying statistical techniques and computational methods to explore patterns and relationships within the data.</a:t>
            </a:r>
            <a:endParaRPr b="0" lang="en-IN" sz="16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n-IN" sz="1600" spc="-1" strike="noStrike">
                <a:solidFill>
                  <a:srgbClr val="000000"/>
                </a:solidFill>
                <a:latin typeface="Arial"/>
              </a:rPr>
              <a:t>Phase 5 - Data Visualization:</a:t>
            </a:r>
            <a:r>
              <a:rPr b="0" lang="en-IN" sz="1600" spc="-1" strike="noStrike">
                <a:solidFill>
                  <a:srgbClr val="000000"/>
                </a:solidFill>
                <a:latin typeface="Arial"/>
              </a:rPr>
              <a:t> Creating graphical representations such as charts and plots to present insights clearly.</a:t>
            </a:r>
            <a:endParaRPr b="0" lang="en-IN" sz="1600" spc="-1" strike="noStrike">
              <a:solidFill>
                <a:srgbClr val="000000"/>
              </a:solidFill>
              <a:latin typeface="Arial"/>
            </a:endParaRPr>
          </a:p>
          <a:p>
            <a:pPr marL="216000" indent="-216000">
              <a:lnSpc>
                <a:spcPct val="100000"/>
              </a:lnSpc>
              <a:spcBef>
                <a:spcPts val="1191"/>
              </a:spcBef>
              <a:spcAft>
                <a:spcPts val="992"/>
              </a:spcAft>
              <a:buClr>
                <a:srgbClr val="000000"/>
              </a:buClr>
              <a:buSzPct val="45000"/>
              <a:buFont typeface="Wingdings" charset="2"/>
              <a:buChar char=""/>
            </a:pPr>
            <a:r>
              <a:rPr b="1" lang="en-IN" sz="1600" spc="-1" strike="noStrike">
                <a:solidFill>
                  <a:srgbClr val="000000"/>
                </a:solidFill>
                <a:latin typeface="Arial"/>
              </a:rPr>
              <a:t>Phase 6 - Interpretation and Documentation:</a:t>
            </a:r>
            <a:r>
              <a:rPr b="0" lang="en-IN" sz="1600" spc="-1" strike="noStrike">
                <a:solidFill>
                  <a:srgbClr val="000000"/>
                </a:solidFill>
                <a:latin typeface="Arial"/>
              </a:rPr>
              <a:t> Analyzing the results, drawing conclusions, and preparing the final project report.</a:t>
            </a:r>
            <a:endParaRPr b="0" lang="en-IN" sz="1600" spc="-1" strike="noStrike">
              <a:solidFill>
                <a:srgbClr val="000000"/>
              </a:solidFill>
              <a:latin typeface="Arial"/>
            </a:endParaRPr>
          </a:p>
          <a:p>
            <a:endParaRPr b="0" lang="en-IN"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Content Placeholder 3" descr=""/>
          <p:cNvPicPr/>
          <p:nvPr/>
        </p:nvPicPr>
        <p:blipFill>
          <a:blip r:embed="rId1"/>
          <a:stretch/>
        </p:blipFill>
        <p:spPr>
          <a:xfrm>
            <a:off x="43920" y="0"/>
            <a:ext cx="9180000" cy="6885000"/>
          </a:xfrm>
          <a:prstGeom prst="rect">
            <a:avLst/>
          </a:prstGeom>
          <a:ln w="0">
            <a:noFill/>
          </a:ln>
        </p:spPr>
      </p:pic>
      <p:sp>
        <p:nvSpPr>
          <p:cNvPr id="110" name="Rectangle 1"/>
          <p:cNvSpPr/>
          <p:nvPr/>
        </p:nvSpPr>
        <p:spPr>
          <a:xfrm>
            <a:off x="103320" y="301680"/>
            <a:ext cx="4392000" cy="57852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3200" spc="-1" strike="noStrike">
                <a:solidFill>
                  <a:schemeClr val="dk1"/>
                </a:solidFill>
                <a:latin typeface="Verdana"/>
                <a:ea typeface="Times New Roman"/>
              </a:rPr>
              <a:t>Methodology</a:t>
            </a:r>
            <a:endParaRPr b="0" lang="en-IN" sz="3200" spc="-1" strike="noStrike">
              <a:solidFill>
                <a:srgbClr val="000000"/>
              </a:solidFill>
              <a:latin typeface="Arial"/>
            </a:endParaRPr>
          </a:p>
        </p:txBody>
      </p:sp>
      <p:cxnSp>
        <p:nvCxnSpPr>
          <p:cNvPr id="111" name="Straight Connector 6"/>
          <p:cNvCxnSpPr/>
          <p:nvPr/>
        </p:nvCxnSpPr>
        <p:spPr>
          <a:xfrm>
            <a:off x="0" y="1061280"/>
            <a:ext cx="9180720" cy="360"/>
          </a:xfrm>
          <a:prstGeom prst="straightConnector1">
            <a:avLst/>
          </a:prstGeom>
          <a:ln w="25400">
            <a:solidFill>
              <a:srgbClr val="0060aa"/>
            </a:solidFill>
            <a:round/>
          </a:ln>
        </p:spPr>
      </p:cxnSp>
      <p:pic>
        <p:nvPicPr>
          <p:cNvPr id="112" name="Picture 8" descr=""/>
          <p:cNvPicPr/>
          <p:nvPr/>
        </p:nvPicPr>
        <p:blipFill>
          <a:blip r:embed="rId2"/>
          <a:stretch/>
        </p:blipFill>
        <p:spPr>
          <a:xfrm>
            <a:off x="72000" y="6309360"/>
            <a:ext cx="2411280" cy="346320"/>
          </a:xfrm>
          <a:prstGeom prst="rect">
            <a:avLst/>
          </a:prstGeom>
          <a:ln w="0">
            <a:noFill/>
          </a:ln>
        </p:spPr>
      </p:pic>
      <p:sp>
        <p:nvSpPr>
          <p:cNvPr id="113"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114" name=""/>
          <p:cNvSpPr txBox="1"/>
          <p:nvPr/>
        </p:nvSpPr>
        <p:spPr>
          <a:xfrm>
            <a:off x="360000" y="1293840"/>
            <a:ext cx="8640000" cy="3498840"/>
          </a:xfrm>
          <a:prstGeom prst="rect">
            <a:avLst/>
          </a:prstGeom>
          <a:noFill/>
          <a:ln w="0">
            <a:noFill/>
          </a:ln>
        </p:spPr>
        <p:txBody>
          <a:bodyPr lIns="90000" rIns="90000" tIns="45000" bIns="45000" anchor="t">
            <a:noAutofit/>
          </a:bodyPr>
          <a:p>
            <a:pPr>
              <a:lnSpc>
                <a:spcPct val="150000"/>
              </a:lnSpc>
            </a:pPr>
            <a:r>
              <a:rPr b="1" lang="en-IN" sz="1800" spc="-1" strike="noStrike">
                <a:solidFill>
                  <a:srgbClr val="000000"/>
                </a:solidFill>
                <a:latin typeface="Arial"/>
              </a:rPr>
              <a:t>The methodology follows a systematic data analysis workflow:</a:t>
            </a:r>
            <a:endParaRPr b="0" lang="en-IN" sz="1800" spc="-1" strike="noStrike">
              <a:solidFill>
                <a:srgbClr val="000000"/>
              </a:solidFill>
              <a:latin typeface="Arial"/>
            </a:endParaRPr>
          </a:p>
          <a:p>
            <a:pPr marL="216000" indent="-216000">
              <a:lnSpc>
                <a:spcPct val="150000"/>
              </a:lnSpc>
              <a:buClr>
                <a:srgbClr val="000000"/>
              </a:buClr>
              <a:buFont typeface="OpenSymbol"/>
              <a:buAutoNum type="arabicParenR"/>
            </a:pPr>
            <a:r>
              <a:rPr b="0" lang="en-IN" sz="1800" spc="-1" strike="noStrike">
                <a:solidFill>
                  <a:srgbClr val="000000"/>
                </a:solidFill>
                <a:latin typeface="Arial"/>
              </a:rPr>
              <a:t>Data Collection, Cleaning and Organization</a:t>
            </a:r>
            <a:endParaRPr b="0" lang="en-IN" sz="1800" spc="-1" strike="noStrike">
              <a:solidFill>
                <a:srgbClr val="000000"/>
              </a:solidFill>
              <a:latin typeface="Arial"/>
            </a:endParaRPr>
          </a:p>
          <a:p>
            <a:pPr marL="216000" indent="-216000">
              <a:lnSpc>
                <a:spcPct val="150000"/>
              </a:lnSpc>
              <a:buClr>
                <a:srgbClr val="000000"/>
              </a:buClr>
              <a:buFont typeface="OpenSymbol"/>
              <a:buAutoNum type="arabicParenR"/>
            </a:pPr>
            <a:r>
              <a:rPr b="0" lang="en-IN" sz="1800" spc="-1" strike="noStrike">
                <a:solidFill>
                  <a:srgbClr val="000000"/>
                </a:solidFill>
                <a:latin typeface="Arial"/>
              </a:rPr>
              <a:t>Exploratory Analysis </a:t>
            </a:r>
            <a:endParaRPr b="0" lang="en-IN" sz="1800" spc="-1" strike="noStrike">
              <a:solidFill>
                <a:srgbClr val="000000"/>
              </a:solidFill>
              <a:latin typeface="Arial"/>
            </a:endParaRPr>
          </a:p>
          <a:p>
            <a:pPr marL="216000" indent="-216000">
              <a:lnSpc>
                <a:spcPct val="150000"/>
              </a:lnSpc>
              <a:buClr>
                <a:srgbClr val="000000"/>
              </a:buClr>
              <a:buFont typeface="OpenSymbol"/>
              <a:buAutoNum type="arabicParenR"/>
            </a:pPr>
            <a:r>
              <a:rPr b="0" lang="en-IN" sz="1800" spc="-1" strike="noStrike">
                <a:solidFill>
                  <a:srgbClr val="000000"/>
                </a:solidFill>
                <a:latin typeface="Arial"/>
              </a:rPr>
              <a:t>Visualization and Interpretation</a:t>
            </a:r>
            <a:endParaRPr b="0" lang="en-IN" sz="1800" spc="-1" strike="noStrike">
              <a:solidFill>
                <a:srgbClr val="000000"/>
              </a:solidFill>
              <a:latin typeface="Arial"/>
            </a:endParaRPr>
          </a:p>
          <a:p>
            <a:pPr marL="216000" indent="-216000">
              <a:lnSpc>
                <a:spcPct val="150000"/>
              </a:lnSpc>
              <a:buClr>
                <a:srgbClr val="000000"/>
              </a:buClr>
              <a:buFont typeface="OpenSymbol"/>
              <a:buAutoNum type="arabicParenR"/>
            </a:pPr>
            <a:endParaRPr b="0" lang="en-IN" sz="1600" spc="-1" strike="noStrike">
              <a:solidFill>
                <a:srgbClr val="000000"/>
              </a:solidFill>
              <a:latin typeface="Arial"/>
            </a:endParaRPr>
          </a:p>
          <a:p>
            <a:pPr>
              <a:lnSpc>
                <a:spcPct val="150000"/>
              </a:lnSpc>
            </a:pPr>
            <a:r>
              <a:rPr b="1" lang="en-IN" sz="1800" spc="-1" strike="noStrike">
                <a:solidFill>
                  <a:srgbClr val="000000"/>
                </a:solidFill>
                <a:latin typeface="Arial"/>
              </a:rPr>
              <a:t>Technology Stack:</a:t>
            </a:r>
            <a:endParaRPr b="0" lang="en-IN" sz="1800" spc="-1" strike="noStrike">
              <a:solidFill>
                <a:srgbClr val="000000"/>
              </a:solidFill>
              <a:latin typeface="Arial"/>
            </a:endParaRPr>
          </a:p>
          <a:p>
            <a:pPr marL="216000" indent="-216000">
              <a:lnSpc>
                <a:spcPct val="150000"/>
              </a:lnSpc>
              <a:buClr>
                <a:srgbClr val="000000"/>
              </a:buClr>
              <a:buSzPct val="45000"/>
              <a:buFont typeface="Wingdings" charset="2"/>
              <a:buChar char=""/>
            </a:pPr>
            <a:r>
              <a:rPr b="0" lang="en-IN" sz="1800" spc="-1" strike="noStrike">
                <a:solidFill>
                  <a:srgbClr val="000000"/>
                </a:solidFill>
                <a:latin typeface="Arial"/>
              </a:rPr>
              <a:t>Python</a:t>
            </a:r>
            <a:endParaRPr b="0" lang="en-IN" sz="1800" spc="-1" strike="noStrike">
              <a:solidFill>
                <a:srgbClr val="000000"/>
              </a:solidFill>
              <a:latin typeface="Arial"/>
            </a:endParaRPr>
          </a:p>
          <a:p>
            <a:pPr marL="216000" indent="-216000">
              <a:lnSpc>
                <a:spcPct val="150000"/>
              </a:lnSpc>
              <a:buClr>
                <a:srgbClr val="000000"/>
              </a:buClr>
              <a:buSzPct val="45000"/>
              <a:buFont typeface="Wingdings" charset="2"/>
              <a:buChar char=""/>
            </a:pPr>
            <a:r>
              <a:rPr b="0" lang="en-IN" sz="1800" spc="-1" strike="noStrike">
                <a:solidFill>
                  <a:srgbClr val="000000"/>
                </a:solidFill>
                <a:latin typeface="Arial"/>
              </a:rPr>
              <a:t>Libraries - Pandas, NumPy, Matplotlib, </a:t>
            </a:r>
            <a:endParaRPr b="0" lang="en-IN" sz="1800" spc="-1" strike="noStrike">
              <a:solidFill>
                <a:srgbClr val="000000"/>
              </a:solidFill>
              <a:latin typeface="Arial"/>
            </a:endParaRPr>
          </a:p>
          <a:p>
            <a:pPr marL="216000" indent="-216000">
              <a:lnSpc>
                <a:spcPct val="150000"/>
              </a:lnSpc>
              <a:buClr>
                <a:srgbClr val="000000"/>
              </a:buClr>
              <a:buSzPct val="45000"/>
              <a:buFont typeface="Wingdings" charset="2"/>
              <a:buChar char=""/>
            </a:pPr>
            <a:r>
              <a:rPr b="0" lang="en-IN" sz="1800" spc="-1" strike="noStrike">
                <a:solidFill>
                  <a:srgbClr val="000000"/>
                </a:solidFill>
                <a:latin typeface="Arial"/>
              </a:rPr>
              <a:t>Microsoft Excel</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5" name="Content Placeholder 3" descr=""/>
          <p:cNvPicPr/>
          <p:nvPr/>
        </p:nvPicPr>
        <p:blipFill>
          <a:blip r:embed="rId1"/>
          <a:stretch/>
        </p:blipFill>
        <p:spPr>
          <a:xfrm>
            <a:off x="0" y="0"/>
            <a:ext cx="9180000" cy="6885000"/>
          </a:xfrm>
          <a:prstGeom prst="rect">
            <a:avLst/>
          </a:prstGeom>
          <a:ln w="0">
            <a:noFill/>
          </a:ln>
        </p:spPr>
      </p:pic>
      <p:sp>
        <p:nvSpPr>
          <p:cNvPr id="116" name="Rectangle 1"/>
          <p:cNvSpPr/>
          <p:nvPr/>
        </p:nvSpPr>
        <p:spPr>
          <a:xfrm>
            <a:off x="177120" y="105480"/>
            <a:ext cx="8280720" cy="106632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3200" spc="-1" strike="noStrike">
                <a:solidFill>
                  <a:schemeClr val="dk1"/>
                </a:solidFill>
                <a:latin typeface="Verdana"/>
                <a:ea typeface="Times New Roman"/>
              </a:rPr>
              <a:t>Prototype/Project Flow diagram/Architecture</a:t>
            </a:r>
            <a:endParaRPr b="0" lang="en-IN" sz="3200" spc="-1" strike="noStrike">
              <a:solidFill>
                <a:srgbClr val="000000"/>
              </a:solidFill>
              <a:latin typeface="Arial"/>
            </a:endParaRPr>
          </a:p>
        </p:txBody>
      </p:sp>
      <p:cxnSp>
        <p:nvCxnSpPr>
          <p:cNvPr id="117" name="Straight Connector 6"/>
          <p:cNvCxnSpPr/>
          <p:nvPr/>
        </p:nvCxnSpPr>
        <p:spPr>
          <a:xfrm>
            <a:off x="0" y="1061280"/>
            <a:ext cx="9180720" cy="360"/>
          </a:xfrm>
          <a:prstGeom prst="straightConnector1">
            <a:avLst/>
          </a:prstGeom>
          <a:ln w="25400">
            <a:solidFill>
              <a:srgbClr val="0060aa"/>
            </a:solidFill>
            <a:round/>
          </a:ln>
        </p:spPr>
      </p:cxnSp>
      <p:pic>
        <p:nvPicPr>
          <p:cNvPr id="118" name="Picture 8" descr=""/>
          <p:cNvPicPr/>
          <p:nvPr/>
        </p:nvPicPr>
        <p:blipFill>
          <a:blip r:embed="rId2"/>
          <a:stretch/>
        </p:blipFill>
        <p:spPr>
          <a:xfrm>
            <a:off x="72000" y="6309360"/>
            <a:ext cx="2411280" cy="346320"/>
          </a:xfrm>
          <a:prstGeom prst="rect">
            <a:avLst/>
          </a:prstGeom>
          <a:ln w="0">
            <a:noFill/>
          </a:ln>
        </p:spPr>
      </p:pic>
      <p:sp>
        <p:nvSpPr>
          <p:cNvPr id="119"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120" name="Rectangle 1"/>
          <p:cNvSpPr/>
          <p:nvPr/>
        </p:nvSpPr>
        <p:spPr>
          <a:xfrm>
            <a:off x="0" y="0"/>
            <a:ext cx="9143640" cy="360"/>
          </a:xfrm>
          <a:prstGeom prst="rect">
            <a:avLst/>
          </a:prstGeom>
          <a:noFill/>
          <a:ln w="0">
            <a:noFill/>
          </a:ln>
        </p:spPr>
        <p:style>
          <a:lnRef idx="0"/>
          <a:fillRef idx="0"/>
          <a:effectRef idx="0"/>
          <a:fontRef idx="minor"/>
        </p:style>
        <p:txBody>
          <a:bodyPr numCol="1" spcCol="0" wrap="none" tIns="360" bIns="360" anchor="ctr">
            <a:spAutoFit/>
          </a:bodyPr>
          <a:p>
            <a:pPr defTabSz="914400">
              <a:lnSpc>
                <a:spcPct val="100000"/>
              </a:lnSpc>
            </a:pPr>
            <a:endParaRPr b="0" lang="en-IN" sz="1800" spc="-1" strike="noStrike">
              <a:solidFill>
                <a:schemeClr val="dk1"/>
              </a:solidFill>
              <a:latin typeface="Calibri"/>
            </a:endParaRPr>
          </a:p>
        </p:txBody>
      </p:sp>
      <p:sp>
        <p:nvSpPr>
          <p:cNvPr id="121" name=""/>
          <p:cNvSpPr txBox="1"/>
          <p:nvPr/>
        </p:nvSpPr>
        <p:spPr>
          <a:xfrm>
            <a:off x="360000" y="1260000"/>
            <a:ext cx="8460000" cy="3600000"/>
          </a:xfrm>
          <a:prstGeom prst="rect">
            <a:avLst/>
          </a:prstGeom>
          <a:noFill/>
          <a:ln w="0">
            <a:noFill/>
          </a:ln>
        </p:spPr>
        <p:txBody>
          <a:bodyPr lIns="90000" rIns="90000" tIns="45000" bIns="45000" anchor="t">
            <a:noAutofit/>
          </a:bodyPr>
          <a:p>
            <a:r>
              <a:rPr b="0" lang="en-IN" sz="1800" spc="-1" strike="noStrike">
                <a:solidFill>
                  <a:srgbClr val="000000"/>
                </a:solidFill>
                <a:latin typeface="Arial"/>
              </a:rPr>
              <a:t>The prototype consists of a structured computing workflow developed in Python for importing, cleaning, analyzing, and visualizing biological health data. The system includes scripts for preprocessing datasets, generating statistical summaries, and creating graphical representations such as charts and distribution plots.</a:t>
            </a:r>
            <a:endParaRPr b="0" lang="en-IN" sz="1800" spc="-1" strike="noStrike">
              <a:solidFill>
                <a:srgbClr val="000000"/>
              </a:solidFill>
              <a:latin typeface="Arial"/>
            </a:endParaRPr>
          </a:p>
          <a:p>
            <a:endParaRPr b="0" lang="en-IN" sz="1800" spc="-1" strike="noStrike">
              <a:solidFill>
                <a:srgbClr val="000000"/>
              </a:solidFill>
              <a:latin typeface="Arial"/>
            </a:endParaRPr>
          </a:p>
          <a:p>
            <a:r>
              <a:rPr b="0" lang="en-IN" sz="1800" spc="-1" strike="noStrike">
                <a:solidFill>
                  <a:srgbClr val="000000"/>
                </a:solidFill>
                <a:latin typeface="Arial"/>
              </a:rPr>
              <a:t>An optional spreadsheet interface may be used for preliminary inspection and validation of data. The prototype demonstrates a repeatable process where datasets can be analyzed efficiently using computational techniques.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Content Placeholder 3" descr=""/>
          <p:cNvPicPr/>
          <p:nvPr/>
        </p:nvPicPr>
        <p:blipFill>
          <a:blip r:embed="rId1"/>
          <a:stretch/>
        </p:blipFill>
        <p:spPr>
          <a:xfrm>
            <a:off x="0" y="0"/>
            <a:ext cx="9180000" cy="6885000"/>
          </a:xfrm>
          <a:prstGeom prst="rect">
            <a:avLst/>
          </a:prstGeom>
          <a:ln w="0">
            <a:noFill/>
          </a:ln>
        </p:spPr>
      </p:pic>
      <p:sp>
        <p:nvSpPr>
          <p:cNvPr id="123" name="Rectangle 1"/>
          <p:cNvSpPr/>
          <p:nvPr/>
        </p:nvSpPr>
        <p:spPr>
          <a:xfrm>
            <a:off x="103320" y="301680"/>
            <a:ext cx="6844320" cy="57852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3200" spc="-1" strike="noStrike">
                <a:solidFill>
                  <a:schemeClr val="dk1"/>
                </a:solidFill>
                <a:latin typeface="Verdana"/>
                <a:ea typeface="Times New Roman"/>
              </a:rPr>
              <a:t>Project Timeline</a:t>
            </a:r>
            <a:endParaRPr b="0" lang="en-IN" sz="3200" spc="-1" strike="noStrike">
              <a:solidFill>
                <a:srgbClr val="000000"/>
              </a:solidFill>
              <a:latin typeface="Arial"/>
            </a:endParaRPr>
          </a:p>
        </p:txBody>
      </p:sp>
      <p:cxnSp>
        <p:nvCxnSpPr>
          <p:cNvPr id="124" name="Straight Connector 6"/>
          <p:cNvCxnSpPr/>
          <p:nvPr/>
        </p:nvCxnSpPr>
        <p:spPr>
          <a:xfrm>
            <a:off x="0" y="1061280"/>
            <a:ext cx="9180720" cy="360"/>
          </a:xfrm>
          <a:prstGeom prst="straightConnector1">
            <a:avLst/>
          </a:prstGeom>
          <a:ln w="25400">
            <a:solidFill>
              <a:srgbClr val="0060aa"/>
            </a:solidFill>
            <a:round/>
          </a:ln>
        </p:spPr>
      </p:cxnSp>
      <p:pic>
        <p:nvPicPr>
          <p:cNvPr id="125" name="Picture 8" descr=""/>
          <p:cNvPicPr/>
          <p:nvPr/>
        </p:nvPicPr>
        <p:blipFill>
          <a:blip r:embed="rId2"/>
          <a:stretch/>
        </p:blipFill>
        <p:spPr>
          <a:xfrm>
            <a:off x="72000" y="6309360"/>
            <a:ext cx="2411280" cy="346320"/>
          </a:xfrm>
          <a:prstGeom prst="rect">
            <a:avLst/>
          </a:prstGeom>
          <a:ln w="0">
            <a:noFill/>
          </a:ln>
        </p:spPr>
      </p:pic>
      <p:sp>
        <p:nvSpPr>
          <p:cNvPr id="126"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127" name=""/>
          <p:cNvSpPr txBox="1"/>
          <p:nvPr/>
        </p:nvSpPr>
        <p:spPr>
          <a:xfrm>
            <a:off x="180000" y="1324800"/>
            <a:ext cx="8640000" cy="1915200"/>
          </a:xfrm>
          <a:prstGeom prst="rect">
            <a:avLst/>
          </a:prstGeom>
          <a:noFill/>
          <a:ln w="0">
            <a:noFill/>
          </a:ln>
        </p:spPr>
        <p:txBody>
          <a:bodyPr lIns="90000" rIns="90000" tIns="45000" bIns="45000" anchor="t">
            <a:noAutofit/>
          </a:bodyPr>
          <a:p>
            <a:endParaRPr b="0" lang="en-IN" sz="1800" spc="-1" strike="noStrike">
              <a:solidFill>
                <a:srgbClr val="000000"/>
              </a:solidFill>
              <a:latin typeface="Arial"/>
            </a:endParaRPr>
          </a:p>
          <a:p>
            <a:endParaRPr b="0" lang="en-IN" sz="1000" spc="-1" strike="noStrike">
              <a:solidFill>
                <a:srgbClr val="000000"/>
              </a:solidFill>
              <a:latin typeface="Arial"/>
            </a:endParaRPr>
          </a:p>
        </p:txBody>
      </p:sp>
      <p:sp>
        <p:nvSpPr>
          <p:cNvPr id="128" name=""/>
          <p:cNvSpPr txBox="1"/>
          <p:nvPr/>
        </p:nvSpPr>
        <p:spPr>
          <a:xfrm>
            <a:off x="360000" y="1324800"/>
            <a:ext cx="8460000" cy="4841640"/>
          </a:xfrm>
          <a:prstGeom prst="rect">
            <a:avLst/>
          </a:prstGeom>
          <a:noFill/>
          <a:ln w="0">
            <a:noFill/>
          </a:ln>
        </p:spPr>
        <p:txBody>
          <a:bodyPr lIns="90000" rIns="90000" tIns="45000" bIns="45000" anchor="t">
            <a:noAutofit/>
          </a:bodyPr>
          <a:p>
            <a:r>
              <a:rPr b="0" lang="en-IN" sz="1600" spc="-1" strike="noStrike">
                <a:solidFill>
                  <a:srgbClr val="000000"/>
                </a:solidFill>
                <a:latin typeface="Arial"/>
              </a:rPr>
              <a:t>The project is organized into a time-bound schedule to ensure systematic progress and timely completion:</a:t>
            </a:r>
            <a:endParaRPr b="0" lang="en-IN" sz="1600" spc="-1" strike="noStrike">
              <a:solidFill>
                <a:srgbClr val="000000"/>
              </a:solidFill>
              <a:latin typeface="Arial"/>
            </a:endParaRPr>
          </a:p>
          <a:p>
            <a:r>
              <a:rPr b="1" lang="en-IN" sz="1600" spc="-1" strike="noStrike">
                <a:solidFill>
                  <a:srgbClr val="000000"/>
                </a:solidFill>
                <a:latin typeface="Arial"/>
              </a:rPr>
              <a:t>Week 1 - Planning and Dataset Selection:</a:t>
            </a:r>
            <a:r>
              <a:rPr b="0" lang="en-IN" sz="1600" spc="-1" strike="noStrike">
                <a:solidFill>
                  <a:srgbClr val="000000"/>
                </a:solidFill>
                <a:latin typeface="Arial"/>
              </a:rPr>
              <a:t> Identification of project objectives and selection of appropriate biological health datasets.</a:t>
            </a:r>
            <a:endParaRPr b="0" lang="en-IN" sz="1600" spc="-1" strike="noStrike">
              <a:solidFill>
                <a:srgbClr val="000000"/>
              </a:solidFill>
              <a:latin typeface="Arial"/>
            </a:endParaRPr>
          </a:p>
          <a:p>
            <a:r>
              <a:rPr b="1" lang="en-IN" sz="1600" spc="-1" strike="noStrike">
                <a:solidFill>
                  <a:srgbClr val="000000"/>
                </a:solidFill>
                <a:latin typeface="Arial"/>
              </a:rPr>
              <a:t>Week 2 - Data Collection and Preparation:</a:t>
            </a:r>
            <a:r>
              <a:rPr b="0" lang="en-IN" sz="1600" spc="-1" strike="noStrike">
                <a:solidFill>
                  <a:srgbClr val="000000"/>
                </a:solidFill>
                <a:latin typeface="Arial"/>
              </a:rPr>
              <a:t> Collection, cleaning, and structuring of data for analysis.</a:t>
            </a:r>
            <a:endParaRPr b="0" lang="en-IN" sz="1600" spc="-1" strike="noStrike">
              <a:solidFill>
                <a:srgbClr val="000000"/>
              </a:solidFill>
              <a:latin typeface="Arial"/>
            </a:endParaRPr>
          </a:p>
          <a:p>
            <a:r>
              <a:rPr b="1" lang="en-IN" sz="1600" spc="-1" strike="noStrike">
                <a:solidFill>
                  <a:srgbClr val="000000"/>
                </a:solidFill>
                <a:latin typeface="Arial"/>
              </a:rPr>
              <a:t>Week 3 - Exploratory Data Analysis:</a:t>
            </a:r>
            <a:r>
              <a:rPr b="0" lang="en-IN" sz="1600" spc="-1" strike="noStrike">
                <a:solidFill>
                  <a:srgbClr val="000000"/>
                </a:solidFill>
                <a:latin typeface="Arial"/>
              </a:rPr>
              <a:t> Performing statistical analysis and generating visualizations.</a:t>
            </a:r>
            <a:endParaRPr b="0" lang="en-IN" sz="1600" spc="-1" strike="noStrike">
              <a:solidFill>
                <a:srgbClr val="000000"/>
              </a:solidFill>
              <a:latin typeface="Arial"/>
            </a:endParaRPr>
          </a:p>
          <a:p>
            <a:r>
              <a:rPr b="1" lang="en-IN" sz="1600" spc="-1" strike="noStrike">
                <a:solidFill>
                  <a:srgbClr val="000000"/>
                </a:solidFill>
                <a:latin typeface="Arial"/>
              </a:rPr>
              <a:t>Week 4 - Interpretation and Report Writing:</a:t>
            </a:r>
            <a:r>
              <a:rPr b="0" lang="en-IN" sz="1600" spc="-1" strike="noStrike">
                <a:solidFill>
                  <a:srgbClr val="000000"/>
                </a:solidFill>
                <a:latin typeface="Arial"/>
              </a:rPr>
              <a:t> Analyzing results, documenting findings, and preparing the final report.</a:t>
            </a:r>
            <a:endParaRPr b="0" lang="en-IN" sz="1600" spc="-1" strike="noStrike">
              <a:solidFill>
                <a:srgbClr val="000000"/>
              </a:solidFill>
              <a:latin typeface="Arial"/>
            </a:endParaRPr>
          </a:p>
          <a:p>
            <a:r>
              <a:rPr b="1" lang="en-IN" sz="1600" spc="-1" strike="noStrike">
                <a:solidFill>
                  <a:srgbClr val="000000"/>
                </a:solidFill>
                <a:latin typeface="Arial"/>
              </a:rPr>
              <a:t>Week 5 - Review and Final Submission:</a:t>
            </a:r>
            <a:r>
              <a:rPr b="0" lang="en-IN" sz="1600" spc="-1" strike="noStrike">
                <a:solidFill>
                  <a:srgbClr val="000000"/>
                </a:solidFill>
                <a:latin typeface="Arial"/>
              </a:rPr>
              <a:t> Revising the project, validating results, and completing submission.</a:t>
            </a:r>
            <a:endParaRPr b="0" lang="en-IN" sz="1600" spc="-1" strike="noStrike">
              <a:solidFill>
                <a:srgbClr val="000000"/>
              </a:solidFill>
              <a:latin typeface="Arial"/>
            </a:endParaRPr>
          </a:p>
          <a:p>
            <a:endParaRPr b="0" lang="en-IN"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Content Placeholder 3" descr=""/>
          <p:cNvPicPr/>
          <p:nvPr/>
        </p:nvPicPr>
        <p:blipFill>
          <a:blip r:embed="rId1"/>
          <a:stretch/>
        </p:blipFill>
        <p:spPr>
          <a:xfrm>
            <a:off x="0" y="0"/>
            <a:ext cx="9180000" cy="6885000"/>
          </a:xfrm>
          <a:prstGeom prst="rect">
            <a:avLst/>
          </a:prstGeom>
          <a:ln w="0">
            <a:noFill/>
          </a:ln>
        </p:spPr>
      </p:pic>
      <p:sp>
        <p:nvSpPr>
          <p:cNvPr id="130" name="Rectangle 1"/>
          <p:cNvSpPr/>
          <p:nvPr/>
        </p:nvSpPr>
        <p:spPr>
          <a:xfrm>
            <a:off x="103320" y="301680"/>
            <a:ext cx="4392000" cy="57852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3200" spc="-1" strike="noStrike">
                <a:solidFill>
                  <a:schemeClr val="dk1"/>
                </a:solidFill>
                <a:latin typeface="Verdana"/>
                <a:ea typeface="Times New Roman"/>
              </a:rPr>
              <a:t>Data &amp; Resources</a:t>
            </a:r>
            <a:endParaRPr b="0" lang="en-IN" sz="3200" spc="-1" strike="noStrike">
              <a:solidFill>
                <a:srgbClr val="000000"/>
              </a:solidFill>
              <a:latin typeface="Arial"/>
            </a:endParaRPr>
          </a:p>
        </p:txBody>
      </p:sp>
      <p:cxnSp>
        <p:nvCxnSpPr>
          <p:cNvPr id="131" name="Straight Connector 6"/>
          <p:cNvCxnSpPr/>
          <p:nvPr/>
        </p:nvCxnSpPr>
        <p:spPr>
          <a:xfrm>
            <a:off x="0" y="1061280"/>
            <a:ext cx="9180720" cy="360"/>
          </a:xfrm>
          <a:prstGeom prst="straightConnector1">
            <a:avLst/>
          </a:prstGeom>
          <a:ln w="25400">
            <a:solidFill>
              <a:srgbClr val="0060aa"/>
            </a:solidFill>
            <a:round/>
          </a:ln>
        </p:spPr>
      </p:cxnSp>
      <p:pic>
        <p:nvPicPr>
          <p:cNvPr id="132" name="Picture 8" descr=""/>
          <p:cNvPicPr/>
          <p:nvPr/>
        </p:nvPicPr>
        <p:blipFill>
          <a:blip r:embed="rId2"/>
          <a:stretch/>
        </p:blipFill>
        <p:spPr>
          <a:xfrm>
            <a:off x="72000" y="6309360"/>
            <a:ext cx="2411280" cy="346320"/>
          </a:xfrm>
          <a:prstGeom prst="rect">
            <a:avLst/>
          </a:prstGeom>
          <a:ln w="0">
            <a:noFill/>
          </a:ln>
        </p:spPr>
      </p:pic>
      <p:sp>
        <p:nvSpPr>
          <p:cNvPr id="133"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134" name=""/>
          <p:cNvSpPr txBox="1"/>
          <p:nvPr/>
        </p:nvSpPr>
        <p:spPr>
          <a:xfrm>
            <a:off x="360000" y="1293840"/>
            <a:ext cx="8460000" cy="2846160"/>
          </a:xfrm>
          <a:prstGeom prst="rect">
            <a:avLst/>
          </a:prstGeom>
          <a:noFill/>
          <a:ln w="0">
            <a:noFill/>
          </a:ln>
        </p:spPr>
        <p:txBody>
          <a:bodyPr lIns="90000" rIns="90000" tIns="45000" bIns="45000" anchor="t">
            <a:noAutofit/>
          </a:bodyPr>
          <a:p>
            <a:r>
              <a:rPr b="0" lang="en-IN" sz="1800" spc="-1" strike="noStrike">
                <a:solidFill>
                  <a:srgbClr val="000000"/>
                </a:solidFill>
                <a:latin typeface="Arial"/>
              </a:rPr>
              <a:t>The project utilizes secondary biological health datasets obtained from reliable public repositories. These datasets may include demographic attributes, health indicators, disease classifications, or measurement-based variables.</a:t>
            </a:r>
            <a:endParaRPr b="0" lang="en-IN" sz="1800" spc="-1" strike="noStrike">
              <a:solidFill>
                <a:srgbClr val="000000"/>
              </a:solidFill>
              <a:latin typeface="Arial"/>
            </a:endParaRPr>
          </a:p>
          <a:p>
            <a:endParaRPr b="0" lang="en-IN" sz="1600" spc="-1" strike="noStrike">
              <a:solidFill>
                <a:srgbClr val="000000"/>
              </a:solidFill>
              <a:latin typeface="Arial"/>
            </a:endParaRPr>
          </a:p>
          <a:p>
            <a:r>
              <a:rPr b="0" lang="en-IN" sz="1800" spc="-1" strike="noStrike">
                <a:solidFill>
                  <a:srgbClr val="000000"/>
                </a:solidFill>
                <a:latin typeface="Arial"/>
              </a:rPr>
              <a:t>Key features extracted for analysis include statistical distributions, categorical groupings, and numerical trends relevant to disease patterns. The focus remains on structured data that supports aggregation, comparison, and visualization for exploratory insights.</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5" name="Content Placeholder 3" descr=""/>
          <p:cNvPicPr/>
          <p:nvPr/>
        </p:nvPicPr>
        <p:blipFill>
          <a:blip r:embed="rId1"/>
          <a:stretch/>
        </p:blipFill>
        <p:spPr>
          <a:xfrm>
            <a:off x="-95040" y="-13680"/>
            <a:ext cx="9180000" cy="6885000"/>
          </a:xfrm>
          <a:prstGeom prst="rect">
            <a:avLst/>
          </a:prstGeom>
          <a:ln w="0">
            <a:noFill/>
          </a:ln>
        </p:spPr>
      </p:pic>
      <p:sp>
        <p:nvSpPr>
          <p:cNvPr id="136" name="Rectangle 1"/>
          <p:cNvSpPr/>
          <p:nvPr/>
        </p:nvSpPr>
        <p:spPr>
          <a:xfrm>
            <a:off x="601200" y="154440"/>
            <a:ext cx="5274000" cy="578520"/>
          </a:xfrm>
          <a:prstGeom prst="rect">
            <a:avLst/>
          </a:prstGeom>
          <a:noFill/>
          <a:ln w="0">
            <a:noFill/>
          </a:ln>
        </p:spPr>
        <p:style>
          <a:lnRef idx="0"/>
          <a:fillRef idx="0"/>
          <a:effectRef idx="0"/>
          <a:fontRef idx="minor"/>
        </p:style>
        <p:txBody>
          <a:bodyPr numCol="1" spcCol="0" wrap="none" anchor="ctr">
            <a:spAutoFit/>
          </a:bodyPr>
          <a:p>
            <a:pPr defTabSz="914400">
              <a:lnSpc>
                <a:spcPct val="100000"/>
              </a:lnSpc>
            </a:pPr>
            <a:r>
              <a:rPr b="1" lang="en-US" sz="3200" spc="-1" strike="noStrike">
                <a:solidFill>
                  <a:schemeClr val="dk1"/>
                </a:solidFill>
                <a:latin typeface="Verdana"/>
                <a:ea typeface="Times New Roman"/>
              </a:rPr>
              <a:t>Project Usecases &amp; Scope</a:t>
            </a:r>
            <a:endParaRPr b="0" lang="en-IN" sz="3200" spc="-1" strike="noStrike">
              <a:solidFill>
                <a:srgbClr val="000000"/>
              </a:solidFill>
              <a:latin typeface="Arial"/>
            </a:endParaRPr>
          </a:p>
        </p:txBody>
      </p:sp>
      <p:cxnSp>
        <p:nvCxnSpPr>
          <p:cNvPr id="137" name="Straight Connector 6"/>
          <p:cNvCxnSpPr/>
          <p:nvPr/>
        </p:nvCxnSpPr>
        <p:spPr>
          <a:xfrm>
            <a:off x="0" y="1061280"/>
            <a:ext cx="9180720" cy="360"/>
          </a:xfrm>
          <a:prstGeom prst="straightConnector1">
            <a:avLst/>
          </a:prstGeom>
          <a:ln w="25400">
            <a:solidFill>
              <a:srgbClr val="0060aa"/>
            </a:solidFill>
            <a:round/>
          </a:ln>
        </p:spPr>
      </p:cxnSp>
      <p:pic>
        <p:nvPicPr>
          <p:cNvPr id="138" name="Picture 8" descr=""/>
          <p:cNvPicPr/>
          <p:nvPr/>
        </p:nvPicPr>
        <p:blipFill>
          <a:blip r:embed="rId2"/>
          <a:stretch/>
        </p:blipFill>
        <p:spPr>
          <a:xfrm>
            <a:off x="72000" y="6309360"/>
            <a:ext cx="2411280" cy="346320"/>
          </a:xfrm>
          <a:prstGeom prst="rect">
            <a:avLst/>
          </a:prstGeom>
          <a:ln w="0">
            <a:noFill/>
          </a:ln>
        </p:spPr>
      </p:pic>
      <p:sp>
        <p:nvSpPr>
          <p:cNvPr id="139"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140" name=""/>
          <p:cNvSpPr txBox="1"/>
          <p:nvPr/>
        </p:nvSpPr>
        <p:spPr>
          <a:xfrm>
            <a:off x="180000" y="1281600"/>
            <a:ext cx="8640000" cy="3938400"/>
          </a:xfrm>
          <a:prstGeom prst="rect">
            <a:avLst/>
          </a:prstGeom>
          <a:noFill/>
          <a:ln w="0">
            <a:noFill/>
          </a:ln>
        </p:spPr>
        <p:txBody>
          <a:bodyPr lIns="90000" rIns="90000" tIns="45000" bIns="45000" anchor="t">
            <a:noAutofit/>
          </a:bodyPr>
          <a:p>
            <a:r>
              <a:rPr b="0" lang="en-IN" sz="1800" spc="-1" strike="noStrike">
                <a:solidFill>
                  <a:srgbClr val="000000"/>
                </a:solidFill>
                <a:latin typeface="Arial"/>
              </a:rPr>
              <a:t>The scope of this project is limited to exploratory analysis of publicly available biological health datasets using computing tools. It covers data acquisition, preprocessing, statistical exploration, and visualization to identify meaningful disease-related insights.</a:t>
            </a:r>
            <a:endParaRPr b="0" lang="en-IN" sz="1800" spc="-1" strike="noStrike">
              <a:solidFill>
                <a:srgbClr val="000000"/>
              </a:solidFill>
              <a:latin typeface="Arial"/>
            </a:endParaRPr>
          </a:p>
          <a:p>
            <a:endParaRPr b="0" lang="en-IN" sz="1800" spc="-1" strike="noStrike">
              <a:solidFill>
                <a:srgbClr val="000000"/>
              </a:solidFill>
              <a:latin typeface="Arial"/>
            </a:endParaRPr>
          </a:p>
          <a:p>
            <a:r>
              <a:rPr b="0" lang="en-IN" sz="1800" spc="-1" strike="noStrike">
                <a:solidFill>
                  <a:srgbClr val="000000"/>
                </a:solidFill>
                <a:latin typeface="Arial"/>
              </a:rPr>
              <a:t>The project does not attempt predictive modeling or clinical decision-making. Instead, it concentrates on demonstrating how computational methods can be applied to structured health datasets to enhance understanding of biological trends and patterns. The scope ensures practical implementation within academic constraints while maintaining analytical rigor.</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 name="Content Placeholder 3" descr=""/>
          <p:cNvPicPr/>
          <p:nvPr/>
        </p:nvPicPr>
        <p:blipFill>
          <a:blip r:embed="rId1"/>
          <a:stretch/>
        </p:blipFill>
        <p:spPr>
          <a:xfrm>
            <a:off x="0" y="0"/>
            <a:ext cx="9180000" cy="6885000"/>
          </a:xfrm>
          <a:prstGeom prst="rect">
            <a:avLst/>
          </a:prstGeom>
          <a:ln w="0">
            <a:noFill/>
          </a:ln>
        </p:spPr>
      </p:pic>
      <p:sp>
        <p:nvSpPr>
          <p:cNvPr id="142" name="Rectangle 1"/>
          <p:cNvSpPr/>
          <p:nvPr/>
        </p:nvSpPr>
        <p:spPr>
          <a:xfrm>
            <a:off x="103320" y="301680"/>
            <a:ext cx="6844320" cy="57852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b="1" lang="en-US" sz="3200" spc="-1" strike="noStrike">
                <a:solidFill>
                  <a:schemeClr val="dk1"/>
                </a:solidFill>
                <a:latin typeface="Verdana"/>
                <a:ea typeface="Times New Roman"/>
              </a:rPr>
              <a:t>Expected Results &amp; Impact</a:t>
            </a:r>
            <a:endParaRPr b="0" lang="en-IN" sz="3200" spc="-1" strike="noStrike">
              <a:solidFill>
                <a:srgbClr val="000000"/>
              </a:solidFill>
              <a:latin typeface="Arial"/>
            </a:endParaRPr>
          </a:p>
        </p:txBody>
      </p:sp>
      <p:cxnSp>
        <p:nvCxnSpPr>
          <p:cNvPr id="143" name="Straight Connector 6"/>
          <p:cNvCxnSpPr/>
          <p:nvPr/>
        </p:nvCxnSpPr>
        <p:spPr>
          <a:xfrm>
            <a:off x="0" y="1061280"/>
            <a:ext cx="9180720" cy="360"/>
          </a:xfrm>
          <a:prstGeom prst="straightConnector1">
            <a:avLst/>
          </a:prstGeom>
          <a:ln w="25400">
            <a:solidFill>
              <a:srgbClr val="0060aa"/>
            </a:solidFill>
            <a:round/>
          </a:ln>
        </p:spPr>
      </p:cxnSp>
      <p:pic>
        <p:nvPicPr>
          <p:cNvPr id="144" name="Picture 8" descr=""/>
          <p:cNvPicPr/>
          <p:nvPr/>
        </p:nvPicPr>
        <p:blipFill>
          <a:blip r:embed="rId2"/>
          <a:stretch/>
        </p:blipFill>
        <p:spPr>
          <a:xfrm>
            <a:off x="72000" y="6309360"/>
            <a:ext cx="2411280" cy="346320"/>
          </a:xfrm>
          <a:prstGeom prst="rect">
            <a:avLst/>
          </a:prstGeom>
          <a:ln w="0">
            <a:noFill/>
          </a:ln>
        </p:spPr>
      </p:pic>
      <p:sp>
        <p:nvSpPr>
          <p:cNvPr id="145" name="TextBox 5"/>
          <p:cNvSpPr/>
          <p:nvPr/>
        </p:nvSpPr>
        <p:spPr>
          <a:xfrm>
            <a:off x="179640" y="1293840"/>
            <a:ext cx="8784720" cy="383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pPr>
            <a:r>
              <a:rPr b="0" lang="en-US" sz="1800" spc="-1" strike="noStrike">
                <a:solidFill>
                  <a:srgbClr val="000000"/>
                </a:solidFill>
                <a:latin typeface="Verdana"/>
                <a:ea typeface="Times New Roman"/>
              </a:rPr>
              <a:t> </a:t>
            </a:r>
            <a:endParaRPr b="0" lang="en-IN" sz="1800" spc="-1" strike="noStrike">
              <a:solidFill>
                <a:srgbClr val="000000"/>
              </a:solidFill>
              <a:latin typeface="Arial"/>
            </a:endParaRPr>
          </a:p>
        </p:txBody>
      </p:sp>
      <p:sp>
        <p:nvSpPr>
          <p:cNvPr id="146" name=""/>
          <p:cNvSpPr txBox="1"/>
          <p:nvPr/>
        </p:nvSpPr>
        <p:spPr>
          <a:xfrm>
            <a:off x="346320" y="1293840"/>
            <a:ext cx="8473680" cy="2107800"/>
          </a:xfrm>
          <a:prstGeom prst="rect">
            <a:avLst/>
          </a:prstGeom>
          <a:noFill/>
          <a:ln w="0">
            <a:noFill/>
          </a:ln>
        </p:spPr>
        <p:txBody>
          <a:bodyPr lIns="90000" rIns="90000" tIns="45000" bIns="45000" anchor="t">
            <a:noAutofit/>
          </a:bodyPr>
          <a:p>
            <a:r>
              <a:rPr b="0" lang="en-IN" sz="1800" spc="-1" strike="noStrike">
                <a:solidFill>
                  <a:srgbClr val="000000"/>
                </a:solidFill>
                <a:latin typeface="Arial"/>
              </a:rPr>
              <a:t>The project is expected to produce meaningful statistical summaries and visual insights that highlight patterns within biological health datasets. These findings will demonstrate how computational techniques can simplify data interpretation and reveal disease-related trends.</a:t>
            </a:r>
            <a:endParaRPr b="0" lang="en-IN" sz="1800" spc="-1" strike="noStrike">
              <a:solidFill>
                <a:srgbClr val="000000"/>
              </a:solidFill>
              <a:latin typeface="Arial"/>
            </a:endParaRPr>
          </a:p>
          <a:p>
            <a:endParaRPr b="0" lang="en-IN" sz="1600" spc="-1" strike="noStrike">
              <a:solidFill>
                <a:srgbClr val="000000"/>
              </a:solidFill>
              <a:latin typeface="Arial"/>
            </a:endParaRPr>
          </a:p>
          <a:p>
            <a:r>
              <a:rPr b="0" lang="en-IN" sz="1800" spc="-1" strike="noStrike">
                <a:solidFill>
                  <a:srgbClr val="000000"/>
                </a:solidFill>
                <a:latin typeface="Arial"/>
              </a:rPr>
              <a:t>The expected outcome is improved understanding of data handling, visualization, and analytical reasoning using programming tools. The results will showcase the practical role of computing in biological data exploration.</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7" name="Content Placeholder 3" descr=""/>
          <p:cNvPicPr/>
          <p:nvPr/>
        </p:nvPicPr>
        <p:blipFill>
          <a:blip r:embed="rId1"/>
          <a:stretch/>
        </p:blipFill>
        <p:spPr>
          <a:xfrm>
            <a:off x="0" y="0"/>
            <a:ext cx="9180000" cy="6857640"/>
          </a:xfrm>
          <a:prstGeom prst="rect">
            <a:avLst/>
          </a:prstGeom>
          <a:ln w="0">
            <a:noFill/>
          </a:ln>
        </p:spPr>
      </p:pic>
      <p:pic>
        <p:nvPicPr>
          <p:cNvPr id="148" name="Picture 5" descr=""/>
          <p:cNvPicPr/>
          <p:nvPr/>
        </p:nvPicPr>
        <p:blipFill>
          <a:blip r:embed="rId2"/>
          <a:stretch/>
        </p:blipFill>
        <p:spPr>
          <a:xfrm>
            <a:off x="72000" y="6309360"/>
            <a:ext cx="2411280" cy="346320"/>
          </a:xfrm>
          <a:prstGeom prst="rect">
            <a:avLst/>
          </a:prstGeom>
          <a:ln w="0">
            <a:noFill/>
          </a:ln>
        </p:spPr>
      </p:pic>
      <p:sp>
        <p:nvSpPr>
          <p:cNvPr id="149" name="TextBox 1"/>
          <p:cNvSpPr/>
          <p:nvPr/>
        </p:nvSpPr>
        <p:spPr>
          <a:xfrm>
            <a:off x="1879200" y="2709000"/>
            <a:ext cx="5563440" cy="11869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7200" spc="-1" strike="noStrike">
                <a:solidFill>
                  <a:srgbClr val="0060aa"/>
                </a:solidFill>
                <a:latin typeface="Garamond"/>
              </a:rPr>
              <a:t>THANK</a:t>
            </a:r>
            <a:r>
              <a:rPr b="0" lang="en-US" sz="7200" spc="-1" strike="noStrike">
                <a:solidFill>
                  <a:schemeClr val="dk1"/>
                </a:solidFill>
                <a:latin typeface="Garamond"/>
              </a:rPr>
              <a:t> </a:t>
            </a:r>
            <a:r>
              <a:rPr b="0" lang="en-US" sz="7200" spc="-1" strike="noStrike">
                <a:solidFill>
                  <a:srgbClr val="e31e24"/>
                </a:solidFill>
                <a:latin typeface="Garamond"/>
              </a:rPr>
              <a:t>YOU</a:t>
            </a:r>
            <a:endParaRPr b="0" lang="en-IN" sz="7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6268</TotalTime>
  <Application>LibreOffice/24.2.7.2$Linux_X86_64 LibreOffice_project/420$Build-2</Application>
  <AppVersion>15.0000</AppVersion>
  <Words>137</Words>
  <Paragraphs>55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2020-01-16T09:05:56Z</dcterms:created>
  <dc:creator>WEBDEV</dc:creator>
  <dc:description/>
  <dc:language>en-IN</dc:language>
  <cp:lastModifiedBy/>
  <cp:lastPrinted>2022-09-05T08:43:44Z</cp:lastPrinted>
  <dcterms:modified xsi:type="dcterms:W3CDTF">2026-04-16T20:25:25Z</dcterms:modified>
  <cp:revision>314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(4:3)</vt:lpwstr>
  </property>
  <property fmtid="{D5CDD505-2E9C-101B-9397-08002B2CF9AE}" pid="4" name="Slides">
    <vt:i4>15</vt:i4>
  </property>
</Properties>
</file>